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-914400"/>
            <a:ext cx="4114800" cy="4114800"/>
          </a:xfrm>
          <a:prstGeom prst="ellipse">
            <a:avLst/>
          </a:prstGeom>
          <a:solidFill>
            <a:srgbClr val="15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-45720"/>
            <a:ext cx="2468880" cy="246888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530352"/>
            <a:ext cx="1280160" cy="1280160"/>
          </a:xfrm>
          <a:prstGeom prst="ellipse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594360"/>
            <a:ext cx="2011680" cy="292608"/>
          </a:xfrm>
          <a:prstGeom prst="roundRect">
            <a:avLst/>
          </a:prstGeom>
          <a:solidFill>
            <a:srgbClr val="20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03504"/>
            <a:ext cx="1883664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D3B2"/>
                </a:solidFill>
                <a:latin typeface="Noto Sans CJK SC"/>
              </a:defRPr>
            </a:pPr>
            <a:r>
              <a:t>ARCHITECTURE /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987552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7F9FC"/>
                </a:solidFill>
                <a:latin typeface="Noto Sans CJK SC"/>
              </a:defRPr>
            </a:pPr>
            <a:r>
              <a:t>XSkill 可插拔技能生产管线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67712"/>
            <a:ext cx="54864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7D3B2"/>
                </a:solidFill>
                <a:latin typeface="Noto Sans CJK SC"/>
              </a:defRPr>
            </a:pPr>
            <a:r>
              <a:t>重构设计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3182112"/>
            <a:ext cx="7498079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AB4C8"/>
                </a:solidFill>
                <a:latin typeface="Noto Sans CJK SC"/>
              </a:defRPr>
            </a:pPr>
            <a:r>
              <a:t>面向算法团队的接入、热配置与评测指南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959352"/>
            <a:ext cx="3977639" cy="36576"/>
          </a:xfrm>
          <a:prstGeom prst="rect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4270248"/>
            <a:ext cx="8686800" cy="6949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7F9FC"/>
                </a:solidFill>
                <a:latin typeface="Noto Sans CJK SC"/>
              </a:defRPr>
            </a:pPr>
            <a:r>
              <a:t>核心命题：平台负责轨迹与 Skill 生命周期；算法内核只负责从标准输入生成标准产物。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5998464"/>
            <a:ext cx="3931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AB4C8"/>
                </a:solidFill>
                <a:latin typeface="Noto Sans CJK SC"/>
              </a:defRPr>
            </a:pPr>
            <a:r>
              <a:t>2026.07 · 设计提案 / 培训版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5998464"/>
            <a:ext cx="4160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AAB4C8"/>
                </a:solidFill>
                <a:latin typeface="Noto Sans CJK SC"/>
              </a:defRPr>
            </a:pPr>
            <a:r>
              <a:t>参考：OpenMines BaseDispatcher 扩展方式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D3B2"/>
                </a:solidFill>
                <a:latin typeface="Noto Sans CJK SC"/>
              </a:defRPr>
            </a:pPr>
            <a:r>
              <a:t>01 / 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11827"/>
                </a:solidFill>
                <a:latin typeface="Noto Sans CJK SC"/>
              </a:defRPr>
            </a:pPr>
            <a:r>
              <a:t>把平台做稳定，把算法做可替换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B7280"/>
                </a:solidFill>
                <a:latin typeface="Noto Sans CJK SC"/>
              </a:defRPr>
            </a:pPr>
            <a:r>
              <a:t>这次重构的目标不是“多一个配置项”，而是建立可长期演进的算法边界。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64208"/>
            <a:ext cx="11018520" cy="1170432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56816"/>
            <a:ext cx="10424160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>
                <a:solidFill>
                  <a:srgbClr val="AAB4C8"/>
                </a:solidFill>
                <a:latin typeface="Noto Sans CJK SC"/>
              </a:rPr>
              <a:t>XSkill = </a:t>
            </a:r>
            <a:r>
              <a:rPr sz="2300" b="1">
                <a:solidFill>
                  <a:srgbClr val="F7F9FC"/>
                </a:solidFill>
                <a:latin typeface="Noto Sans CJK SC"/>
              </a:rPr>
              <a:t>稳定外壳</a:t>
            </a:r>
            <a:r>
              <a:rPr sz="1900" b="0">
                <a:solidFill>
                  <a:srgbClr val="AAB4C8"/>
                </a:solidFill>
                <a:latin typeface="Noto Sans CJK SC"/>
              </a:rPr>
              <a:t>  +  </a:t>
            </a:r>
            <a:r>
              <a:rPr sz="2300" b="1">
                <a:solidFill>
                  <a:srgbClr val="27D3B2"/>
                </a:solidFill>
                <a:latin typeface="Noto Sans CJK SC"/>
              </a:rPr>
              <a:t>统一内核接口</a:t>
            </a:r>
            <a:r>
              <a:rPr sz="1900" b="0">
                <a:solidFill>
                  <a:srgbClr val="AAB4C8"/>
                </a:solidFill>
                <a:latin typeface="Noto Sans CJK SC"/>
              </a:rPr>
              <a:t>  +  </a:t>
            </a:r>
            <a:r>
              <a:rPr sz="2300" b="1">
                <a:solidFill>
                  <a:srgbClr val="F7F9FC"/>
                </a:solidFill>
                <a:latin typeface="Noto Sans CJK SC"/>
              </a:rPr>
              <a:t>版本化运行时</a:t>
            </a:r>
            <a:r>
              <a:rPr sz="1900" b="0">
                <a:solidFill>
                  <a:srgbClr val="AAB4C8"/>
                </a:solidFill>
                <a:latin typeface="Noto Sans CJK SC"/>
              </a:rPr>
              <a:t>  +  </a:t>
            </a:r>
            <a:r>
              <a:rPr sz="2300" b="1">
                <a:solidFill>
                  <a:srgbClr val="F4B740"/>
                </a:solidFill>
                <a:latin typeface="Noto Sans CJK SC"/>
              </a:rPr>
              <a:t>平台统一评价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218688"/>
            <a:ext cx="2542032" cy="21488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3218688"/>
            <a:ext cx="64008" cy="2148840"/>
          </a:xfrm>
          <a:prstGeom prst="roundRect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21579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827"/>
                </a:solidFill>
                <a:latin typeface="Noto Sans CJK SC"/>
              </a:defRPr>
            </a:pPr>
            <a:r>
              <a:t>接口稳定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2148839" cy="1435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394150"/>
                </a:solidFill>
                <a:latin typeface="Noto Sans CJK SC"/>
              </a:defRPr>
            </a:pPr>
            <a:r>
              <a:t>算法只接收标准请求，只返回 SkillArtifact；不碰上传、用户统计和下发数据库。</a:t>
            </a:r>
          </a:p>
        </p:txBody>
      </p:sp>
      <p:sp>
        <p:nvSpPr>
          <p:cNvPr id="11" name="Oval 10"/>
          <p:cNvSpPr/>
          <p:nvPr/>
        </p:nvSpPr>
        <p:spPr>
          <a:xfrm>
            <a:off x="2578608" y="3364992"/>
            <a:ext cx="310896" cy="310896"/>
          </a:xfrm>
          <a:prstGeom prst="ellipse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3374136"/>
            <a:ext cx="31089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1020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79" y="3218688"/>
            <a:ext cx="2542032" cy="21488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83279" y="3218688"/>
            <a:ext cx="64008" cy="2148840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79" y="3383280"/>
            <a:ext cx="21579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827"/>
                </a:solidFill>
                <a:latin typeface="Noto Sans CJK SC"/>
              </a:defRPr>
            </a:pPr>
            <a:r>
              <a:t>包级注册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3794760"/>
            <a:ext cx="2148839" cy="1435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394150"/>
                </a:solidFill>
                <a:latin typeface="Noto Sans CJK SC"/>
              </a:defRPr>
            </a:pPr>
            <a:r>
              <a:t>生产环境用 Python package entry point；开发环境保留 module:Class 快速调试。</a:t>
            </a:r>
          </a:p>
        </p:txBody>
      </p:sp>
      <p:sp>
        <p:nvSpPr>
          <p:cNvPr id="17" name="Oval 16"/>
          <p:cNvSpPr/>
          <p:nvPr/>
        </p:nvSpPr>
        <p:spPr>
          <a:xfrm>
            <a:off x="5367527" y="3364992"/>
            <a:ext cx="310896" cy="310896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67527" y="3374136"/>
            <a:ext cx="31089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1020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218688"/>
            <a:ext cx="2542032" cy="21488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3218688"/>
            <a:ext cx="64008" cy="2148840"/>
          </a:xfrm>
          <a:prstGeom prst="round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383280"/>
            <a:ext cx="21579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827"/>
                </a:solidFill>
                <a:latin typeface="Noto Sans CJK SC"/>
              </a:defRPr>
            </a:pPr>
            <a:r>
              <a:t>无损切换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94760"/>
            <a:ext cx="2148839" cy="1435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394150"/>
                </a:solidFill>
                <a:latin typeface="Noto Sans CJK SC"/>
              </a:defRPr>
            </a:pPr>
            <a:r>
              <a:t>前端提交配置修订；新任务原子切换，在途任务继续固定旧版本，可一键回滚。</a:t>
            </a:r>
          </a:p>
        </p:txBody>
      </p:sp>
      <p:sp>
        <p:nvSpPr>
          <p:cNvPr id="23" name="Oval 22"/>
          <p:cNvSpPr/>
          <p:nvPr/>
        </p:nvSpPr>
        <p:spPr>
          <a:xfrm>
            <a:off x="8156448" y="3364992"/>
            <a:ext cx="310896" cy="310896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6448" y="3374136"/>
            <a:ext cx="31089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1020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19" y="3218688"/>
            <a:ext cx="2542032" cy="21488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61119" y="3218688"/>
            <a:ext cx="64008" cy="2148840"/>
          </a:xfrm>
          <a:prstGeom prst="round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19" y="3383280"/>
            <a:ext cx="21579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827"/>
                </a:solidFill>
                <a:latin typeface="Noto Sans CJK SC"/>
              </a:defRPr>
            </a:pPr>
            <a:r>
              <a:t>评价归平台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19" y="3794760"/>
            <a:ext cx="2148839" cy="1435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394150"/>
                </a:solidFill>
                <a:latin typeface="Noto Sans CJK SC"/>
              </a:defRPr>
            </a:pPr>
            <a:r>
              <a:t>统一数据集、统一指标、统一裁决；算法可上报诊断，但不能决定自己是否胜出。</a:t>
            </a:r>
          </a:p>
        </p:txBody>
      </p:sp>
      <p:sp>
        <p:nvSpPr>
          <p:cNvPr id="29" name="Oval 28"/>
          <p:cNvSpPr/>
          <p:nvPr/>
        </p:nvSpPr>
        <p:spPr>
          <a:xfrm>
            <a:off x="10945367" y="3364992"/>
            <a:ext cx="310896" cy="310896"/>
          </a:xfrm>
          <a:prstGeom prst="ellipse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45367" y="3374136"/>
            <a:ext cx="31089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1020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696712"/>
            <a:ext cx="11018520" cy="475488"/>
          </a:xfrm>
          <a:prstGeom prst="roundRect">
            <a:avLst/>
          </a:prstGeom>
          <a:solidFill>
            <a:srgbClr val="E8FBF7"/>
          </a:solidFill>
          <a:ln w="12700">
            <a:solidFill>
              <a:srgbClr val="BDE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" y="5806440"/>
            <a:ext cx="10561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F8F7B"/>
                </a:solidFill>
                <a:latin typeface="Noto Sans CJK SC"/>
              </a:defRPr>
            </a:pPr>
            <a:r>
              <a:t>推荐起点：先把现有 AtomTask 管线封装成 builtin-atomtask 内核，行为不变；再开放第三方内核。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6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280"/>
                </a:solidFill>
                <a:latin typeface="Noto Sans CJK SC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D3B2"/>
                </a:solidFill>
                <a:latin typeface="Noto Sans CJK SC"/>
              </a:defRPr>
            </a:pPr>
            <a:r>
              <a:t>02 / 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11827"/>
                </a:solidFill>
                <a:latin typeface="Noto Sans CJK SC"/>
              </a:defRPr>
            </a:pPr>
            <a:r>
              <a:t>谁负责什么：边界必须一眼能看懂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B7280"/>
                </a:solidFill>
                <a:latin typeface="Noto Sans CJK SC"/>
              </a:defRPr>
            </a:pPr>
            <a:r>
              <a:t>算法团队只对“如何生成 Skill”负责；平台对数据、用户和发布负责。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27632"/>
            <a:ext cx="5239512" cy="431596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1847088"/>
            <a:ext cx="2212848" cy="292608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856231"/>
            <a:ext cx="2084831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7F9FC"/>
                </a:solidFill>
                <a:latin typeface="Noto Sans CJK SC"/>
              </a:defRPr>
            </a:pPr>
            <a:r>
              <a:t>XSkill 平台外壳（稳定）</a:t>
            </a:r>
          </a:p>
        </p:txBody>
      </p:sp>
      <p:sp>
        <p:nvSpPr>
          <p:cNvPr id="8" name="Oval 7"/>
          <p:cNvSpPr/>
          <p:nvPr/>
        </p:nvSpPr>
        <p:spPr>
          <a:xfrm>
            <a:off x="896112" y="2404872"/>
            <a:ext cx="237744" cy="237744"/>
          </a:xfrm>
          <a:prstGeom prst="ellipse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2359152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11827"/>
                </a:solidFill>
                <a:latin typeface="Noto Sans CJK SC"/>
              </a:defRPr>
            </a:pPr>
            <a:r>
              <a:t>轨迹接入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5456" y="2368296"/>
            <a:ext cx="287121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30" b="0">
                <a:solidFill>
                  <a:srgbClr val="394150"/>
                </a:solidFill>
                <a:latin typeface="Noto Sans CJK SC"/>
              </a:defRPr>
            </a:pPr>
            <a:r>
              <a:t>上传、去重、脱敏、用户归属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209544"/>
            <a:ext cx="237744" cy="237744"/>
          </a:xfrm>
          <a:prstGeom prst="ellipse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3163824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11827"/>
                </a:solidFill>
                <a:latin typeface="Noto Sans CJK SC"/>
              </a:defRPr>
            </a:pPr>
            <a:r>
              <a:t>运行编排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5456" y="3172968"/>
            <a:ext cx="287121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30" b="0">
                <a:solidFill>
                  <a:srgbClr val="394150"/>
                </a:solidFill>
                <a:latin typeface="Noto Sans CJK SC"/>
              </a:defRPr>
            </a:pPr>
            <a:r>
              <a:t>队列、重试、配置修订、资源配额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4014215"/>
            <a:ext cx="237744" cy="237744"/>
          </a:xfrm>
          <a:prstGeom prst="ellipse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" y="3968496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11827"/>
                </a:solidFill>
                <a:latin typeface="Noto Sans CJK SC"/>
              </a:defRPr>
            </a:pPr>
            <a:r>
              <a:t>Skill 生命周期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5456" y="3977639"/>
            <a:ext cx="287121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30" b="0">
                <a:solidFill>
                  <a:srgbClr val="394150"/>
                </a:solidFill>
                <a:latin typeface="Noto Sans CJK SC"/>
              </a:defRPr>
            </a:pPr>
            <a:r>
              <a:t>仓库、版本、灰度、下发、回滚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818888"/>
            <a:ext cx="237744" cy="237744"/>
          </a:xfrm>
          <a:prstGeom prst="ellipse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4773168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11827"/>
                </a:solidFill>
                <a:latin typeface="Noto Sans CJK SC"/>
              </a:defRPr>
            </a:pPr>
            <a:r>
              <a:t>统计与评价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5456" y="4782312"/>
            <a:ext cx="287121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30" b="0">
                <a:solidFill>
                  <a:srgbClr val="394150"/>
                </a:solidFill>
                <a:latin typeface="Noto Sans CJK SC"/>
              </a:defRPr>
            </a:pPr>
            <a:r>
              <a:t>成本、时延、质量、线上反馈、报表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4224" y="1627632"/>
            <a:ext cx="5248656" cy="4315968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0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65976" y="1847088"/>
            <a:ext cx="1883664" cy="292608"/>
          </a:xfrm>
          <a:prstGeom prst="roundRect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9984" y="1856231"/>
            <a:ext cx="175564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1020"/>
                </a:solidFill>
                <a:latin typeface="Noto Sans CJK SC"/>
              </a:defRPr>
            </a:pPr>
            <a:r>
              <a:t>算法内核（可替换）</a:t>
            </a:r>
          </a:p>
        </p:txBody>
      </p:sp>
      <p:sp>
        <p:nvSpPr>
          <p:cNvPr id="23" name="Oval 22"/>
          <p:cNvSpPr/>
          <p:nvPr/>
        </p:nvSpPr>
        <p:spPr>
          <a:xfrm>
            <a:off x="6684264" y="2404872"/>
            <a:ext cx="237744" cy="237744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2359152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7F9FC"/>
                </a:solidFill>
                <a:latin typeface="Noto Sans CJK SC"/>
              </a:defRPr>
            </a:pPr>
            <a:r>
              <a:t>拆分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368296"/>
            <a:ext cx="287121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30" b="0">
                <a:solidFill>
                  <a:srgbClr val="AAB4C8"/>
                </a:solidFill>
                <a:latin typeface="Noto Sans CJK SC"/>
              </a:defRPr>
            </a:pPr>
            <a:r>
              <a:t>trajectory → AtomTask / 其他中间表示</a:t>
            </a:r>
          </a:p>
        </p:txBody>
      </p:sp>
      <p:sp>
        <p:nvSpPr>
          <p:cNvPr id="26" name="Oval 25"/>
          <p:cNvSpPr/>
          <p:nvPr/>
        </p:nvSpPr>
        <p:spPr>
          <a:xfrm>
            <a:off x="6684264" y="3209544"/>
            <a:ext cx="237744" cy="237744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3163824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7F9FC"/>
                </a:solidFill>
                <a:latin typeface="Noto Sans CJK SC"/>
              </a:defRPr>
            </a:pPr>
            <a:r>
              <a:t>聚类与路由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3172968"/>
            <a:ext cx="287121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30" b="0">
                <a:solidFill>
                  <a:srgbClr val="AAB4C8"/>
                </a:solidFill>
                <a:latin typeface="Noto Sans CJK SC"/>
              </a:defRPr>
            </a:pPr>
            <a:r>
              <a:t>合并、去重、候选 Skill 决策</a:t>
            </a:r>
          </a:p>
        </p:txBody>
      </p:sp>
      <p:sp>
        <p:nvSpPr>
          <p:cNvPr id="29" name="Oval 28"/>
          <p:cNvSpPr/>
          <p:nvPr/>
        </p:nvSpPr>
        <p:spPr>
          <a:xfrm>
            <a:off x="6684264" y="4014215"/>
            <a:ext cx="237744" cy="237744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3968496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7F9FC"/>
                </a:solidFill>
                <a:latin typeface="Noto Sans CJK SC"/>
              </a:defRPr>
            </a:pPr>
            <a:r>
              <a:t>生成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3977639"/>
            <a:ext cx="287121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30" b="0">
                <a:solidFill>
                  <a:srgbClr val="AAB4C8"/>
                </a:solidFill>
                <a:latin typeface="Noto Sans CJK SC"/>
              </a:defRPr>
            </a:pPr>
            <a:r>
              <a:t>SKILL.md、scripts、references</a:t>
            </a:r>
          </a:p>
        </p:txBody>
      </p:sp>
      <p:sp>
        <p:nvSpPr>
          <p:cNvPr id="32" name="Oval 31"/>
          <p:cNvSpPr/>
          <p:nvPr/>
        </p:nvSpPr>
        <p:spPr>
          <a:xfrm>
            <a:off x="6684264" y="4818888"/>
            <a:ext cx="237744" cy="237744"/>
          </a:xfrm>
          <a:prstGeom prst="ellipse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86600" y="4773168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7F9FC"/>
                </a:solidFill>
                <a:latin typeface="Noto Sans CJK SC"/>
              </a:defRPr>
            </a:pPr>
            <a:r>
              <a:t>算法诊断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782312"/>
            <a:ext cx="287121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30" b="0">
                <a:solidFill>
                  <a:srgbClr val="AAB4C8"/>
                </a:solidFill>
                <a:latin typeface="Noto Sans CJK SC"/>
              </a:defRPr>
            </a:pPr>
            <a:r>
              <a:t>阶段事件、内部指标、lineage</a:t>
            </a:r>
          </a:p>
        </p:txBody>
      </p:sp>
      <p:sp>
        <p:nvSpPr>
          <p:cNvPr id="35" name="Chevron 34"/>
          <p:cNvSpPr/>
          <p:nvPr/>
        </p:nvSpPr>
        <p:spPr>
          <a:xfrm>
            <a:off x="5431536" y="2898648"/>
            <a:ext cx="1307592" cy="1170432"/>
          </a:xfrm>
          <a:prstGeom prst="chevron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0" y="3145536"/>
            <a:ext cx="65836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7B61FF"/>
                </a:solidFill>
                <a:latin typeface="Noto Sans CJK SC"/>
              </a:defRPr>
            </a:pPr>
            <a:r>
              <a:t>标准</a:t>
            </a:r>
            <a:br/>
            <a:r>
              <a:t>契约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86584" y="6126480"/>
            <a:ext cx="7424927" cy="301752"/>
          </a:xfrm>
          <a:prstGeom prst="roundRect">
            <a:avLst/>
          </a:prstGeom>
          <a:solidFill>
            <a:srgbClr val="FF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42032" y="6153912"/>
            <a:ext cx="711403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9A6411"/>
                </a:solidFill>
                <a:latin typeface="Noto Sans CJK SC"/>
              </a:defRPr>
            </a:pPr>
            <a:r>
              <a:t>禁止跨界：内核不能直接更新用户统计、checkout Skill 分支或调用下发接口。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6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280"/>
                </a:solidFill>
                <a:latin typeface="Noto Sans CJK SC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D3B2"/>
                </a:solidFill>
                <a:latin typeface="Noto Sans CJK SC"/>
              </a:defRPr>
            </a:pPr>
            <a:r>
              <a:t>03 / 现状审计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11827"/>
                </a:solidFill>
                <a:latin typeface="Noto Sans CJK SC"/>
              </a:defRPr>
            </a:pPr>
            <a:r>
              <a:t>现有能力可复用，主要问题是“编排与实现绑死”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B7280"/>
                </a:solidFill>
                <a:latin typeface="Noto Sans CJK SC"/>
              </a:defRPr>
            </a:pPr>
            <a:r>
              <a:t>以下判断来自当前仓库 runner、TaskAgent、TaskClusterAgent、SkillEditAgent 与 canary 实现。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956816"/>
            <a:ext cx="1728216" cy="9144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956816"/>
            <a:ext cx="1728216" cy="73152"/>
          </a:xfrm>
          <a:prstGeom prst="round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212848"/>
            <a:ext cx="1508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11827"/>
                </a:solidFill>
                <a:latin typeface="Noto Sans CJK SC"/>
              </a:defRPr>
            </a:pPr>
            <a:r>
              <a:t>DirectoryWatcher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523744"/>
            <a:ext cx="15087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69" b="0">
                <a:solidFill>
                  <a:srgbClr val="6B7280"/>
                </a:solidFill>
                <a:latin typeface="Noto Sans CJK SC"/>
              </a:defRPr>
            </a:pPr>
            <a:r>
              <a:t>扫描 / 调度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59152" y="2404872"/>
            <a:ext cx="301751" cy="0"/>
          </a:xfrm>
          <a:prstGeom prst="line">
            <a:avLst/>
          </a:prstGeom>
          <a:ln w="2032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2633472" y="2340864"/>
            <a:ext cx="137160" cy="128016"/>
          </a:xfrm>
          <a:prstGeom prst="triangl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88920" y="1956816"/>
            <a:ext cx="1728216" cy="9144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88920" y="1956816"/>
            <a:ext cx="1728216" cy="73152"/>
          </a:xfrm>
          <a:prstGeom prst="roundRect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8648" y="2212848"/>
            <a:ext cx="1508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11827"/>
                </a:solidFill>
                <a:latin typeface="Noto Sans CJK SC"/>
              </a:defRPr>
            </a:pPr>
            <a:r>
              <a:t>TaskAgent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2523744"/>
            <a:ext cx="15087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69" b="0">
                <a:solidFill>
                  <a:srgbClr val="6B7280"/>
                </a:solidFill>
                <a:latin typeface="Noto Sans CJK SC"/>
              </a:defRPr>
            </a:pPr>
            <a:r>
              <a:t>轨迹拆分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35424" y="2404872"/>
            <a:ext cx="301752" cy="0"/>
          </a:xfrm>
          <a:prstGeom prst="line">
            <a:avLst/>
          </a:prstGeom>
          <a:ln w="2032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4809744" y="2340864"/>
            <a:ext cx="137160" cy="128016"/>
          </a:xfrm>
          <a:prstGeom prst="triangl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965192" y="1956816"/>
            <a:ext cx="1728216" cy="9144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65192" y="1956816"/>
            <a:ext cx="1728216" cy="73152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2212848"/>
            <a:ext cx="1508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11827"/>
                </a:solidFill>
                <a:latin typeface="Noto Sans CJK SC"/>
              </a:defRPr>
            </a:pPr>
            <a:r>
              <a:t>TaskClusterAgent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2523744"/>
            <a:ext cx="15087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69" b="0">
                <a:solidFill>
                  <a:srgbClr val="6B7280"/>
                </a:solidFill>
                <a:latin typeface="Noto Sans CJK SC"/>
              </a:defRPr>
            </a:pPr>
            <a:r>
              <a:t>归类 / buffer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11696" y="2404872"/>
            <a:ext cx="301752" cy="0"/>
          </a:xfrm>
          <a:prstGeom prst="line">
            <a:avLst/>
          </a:prstGeom>
          <a:ln w="2032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6986016" y="2340864"/>
            <a:ext cx="137160" cy="128016"/>
          </a:xfrm>
          <a:prstGeom prst="triangl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41464" y="1956816"/>
            <a:ext cx="1728216" cy="9144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41464" y="1956816"/>
            <a:ext cx="1728216" cy="73152"/>
          </a:xfrm>
          <a:prstGeom prst="round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51192" y="2212848"/>
            <a:ext cx="1508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11827"/>
                </a:solidFill>
                <a:latin typeface="Noto Sans CJK SC"/>
              </a:defRPr>
            </a:pPr>
            <a:r>
              <a:t>SkillEditAgent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1192" y="2523744"/>
            <a:ext cx="15087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69" b="0">
                <a:solidFill>
                  <a:srgbClr val="6B7280"/>
                </a:solidFill>
                <a:latin typeface="Noto Sans CJK SC"/>
              </a:defRPr>
            </a:pPr>
            <a:r>
              <a:t>生成 / 提交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87967" y="2404872"/>
            <a:ext cx="301753" cy="0"/>
          </a:xfrm>
          <a:prstGeom prst="line">
            <a:avLst/>
          </a:prstGeom>
          <a:ln w="2032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9162288" y="2340864"/>
            <a:ext cx="137160" cy="128016"/>
          </a:xfrm>
          <a:prstGeom prst="triangl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1956816"/>
            <a:ext cx="1728216" cy="9144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17736" y="1956816"/>
            <a:ext cx="1728216" cy="73152"/>
          </a:xfrm>
          <a:prstGeom prst="roundRect">
            <a:avLst/>
          </a:prstGeom>
          <a:solidFill>
            <a:srgbClr val="20B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27463" y="2212848"/>
            <a:ext cx="1508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11827"/>
                </a:solidFill>
                <a:latin typeface="Noto Sans CJK SC"/>
              </a:defRPr>
            </a:pPr>
            <a:r>
              <a:t>Canary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27463" y="2523744"/>
            <a:ext cx="15087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69" b="0">
                <a:solidFill>
                  <a:srgbClr val="6B7280"/>
                </a:solidFill>
                <a:latin typeface="Noto Sans CJK SC"/>
              </a:defRPr>
            </a:pPr>
            <a:r>
              <a:t>评价 / 晋级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319272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F6A74"/>
                </a:solidFill>
                <a:latin typeface="Noto Sans CJK SC"/>
              </a:defRPr>
            </a:pPr>
            <a:r>
              <a:t>当前耦合点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3730752"/>
            <a:ext cx="2542032" cy="630936"/>
          </a:xfrm>
          <a:prstGeom prst="roundRect">
            <a:avLst/>
          </a:prstGeom>
          <a:solidFill>
            <a:srgbClr val="FFF0F2"/>
          </a:solidFill>
          <a:ln w="12700">
            <a:solidFill>
              <a:srgbClr val="F5C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3822191"/>
            <a:ext cx="87782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43642"/>
                </a:solidFill>
                <a:latin typeface="Noto Sans CJK SC"/>
              </a:defRPr>
            </a:pPr>
            <a:r>
              <a:t>直接构造类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81912" y="3822191"/>
            <a:ext cx="141732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7D3A42"/>
                </a:solidFill>
                <a:latin typeface="Noto Sans CJK SC"/>
              </a:defRPr>
            </a:pPr>
            <a:r>
              <a:t>Watcher 直接 import / 调用具体 Agent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19856" y="3730752"/>
            <a:ext cx="2542032" cy="630936"/>
          </a:xfrm>
          <a:prstGeom prst="roundRect">
            <a:avLst/>
          </a:prstGeom>
          <a:solidFill>
            <a:srgbClr val="FFF0F2"/>
          </a:solidFill>
          <a:ln w="12700">
            <a:solidFill>
              <a:srgbClr val="F5C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6160" y="3822191"/>
            <a:ext cx="87782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43642"/>
                </a:solidFill>
                <a:latin typeface="Noto Sans CJK SC"/>
              </a:defRPr>
            </a:pPr>
            <a:r>
              <a:t>共享内部状态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9976" y="3822191"/>
            <a:ext cx="141732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7D3A42"/>
                </a:solidFill>
                <a:latin typeface="Noto Sans CJK SC"/>
              </a:defRPr>
            </a:pPr>
            <a:r>
              <a:t>config、store、git、DB、目录结构同时暴露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" y="4581144"/>
            <a:ext cx="2542032" cy="630936"/>
          </a:xfrm>
          <a:prstGeom prst="roundRect">
            <a:avLst/>
          </a:prstGeom>
          <a:solidFill>
            <a:srgbClr val="FFF0F2"/>
          </a:solidFill>
          <a:ln w="12700">
            <a:solidFill>
              <a:srgbClr val="F5C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672583"/>
            <a:ext cx="87782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43642"/>
                </a:solidFill>
                <a:latin typeface="Noto Sans CJK SC"/>
              </a:defRPr>
            </a:pPr>
            <a:r>
              <a:t>没有版本固定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81912" y="4672583"/>
            <a:ext cx="141732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7D3A42"/>
                </a:solidFill>
                <a:latin typeface="Noto Sans CJK SC"/>
              </a:defRPr>
            </a:pPr>
            <a:r>
              <a:t>任务无法回答“由哪个内核 + 哪版配置生成”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19856" y="4581144"/>
            <a:ext cx="2542032" cy="630936"/>
          </a:xfrm>
          <a:prstGeom prst="roundRect">
            <a:avLst/>
          </a:prstGeom>
          <a:solidFill>
            <a:srgbClr val="FFF0F2"/>
          </a:solidFill>
          <a:ln w="12700">
            <a:solidFill>
              <a:srgbClr val="F5C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66160" y="4672583"/>
            <a:ext cx="87782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43642"/>
                </a:solidFill>
                <a:latin typeface="Noto Sans CJK SC"/>
              </a:defRPr>
            </a:pPr>
            <a:r>
              <a:t>替换粒度过细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79976" y="4672583"/>
            <a:ext cx="141732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7D3A42"/>
                </a:solidFill>
                <a:latin typeface="Noto Sans CJK SC"/>
              </a:defRPr>
            </a:pPr>
            <a:r>
              <a:t>改其中一段容易破坏跨阶段隐含约定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3319272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0B978"/>
                </a:solidFill>
                <a:latin typeface="Noto Sans CJK SC"/>
              </a:defRPr>
            </a:pPr>
            <a:r>
              <a:t>应保留的资产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73952" y="3730752"/>
            <a:ext cx="2286000" cy="630936"/>
          </a:xfrm>
          <a:prstGeom prst="roundRect">
            <a:avLst/>
          </a:prstGeom>
          <a:solidFill>
            <a:srgbClr val="EAF9F3"/>
          </a:solidFill>
          <a:ln w="12700">
            <a:solidFill>
              <a:srgbClr val="BFE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11112" y="3822191"/>
            <a:ext cx="10972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37453"/>
                </a:solidFill>
                <a:latin typeface="Noto Sans CJK SC"/>
              </a:defRPr>
            </a:pPr>
            <a:r>
              <a:t>AtomTask 数据模型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71231" y="3822191"/>
            <a:ext cx="1033271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2E6B58"/>
                </a:solidFill>
                <a:latin typeface="Noto Sans CJK SC"/>
              </a:defRPr>
            </a:pPr>
            <a:r>
              <a:t>输入证据可追溯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06840" y="3730752"/>
            <a:ext cx="2286000" cy="630936"/>
          </a:xfrm>
          <a:prstGeom prst="roundRect">
            <a:avLst/>
          </a:prstGeom>
          <a:solidFill>
            <a:srgbClr val="EAF9F3"/>
          </a:solidFill>
          <a:ln w="12700">
            <a:solidFill>
              <a:srgbClr val="BFE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0" y="3822191"/>
            <a:ext cx="10972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37453"/>
                </a:solidFill>
                <a:latin typeface="Noto Sans CJK SC"/>
              </a:defRPr>
            </a:pPr>
            <a:r>
              <a:t>候选 buffer 与阈值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04119" y="3822191"/>
            <a:ext cx="1033271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2E6B58"/>
                </a:solidFill>
                <a:latin typeface="Noto Sans CJK SC"/>
              </a:defRPr>
            </a:pPr>
            <a:r>
              <a:t>增量积累机制成熟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73952" y="4581144"/>
            <a:ext cx="2286000" cy="630936"/>
          </a:xfrm>
          <a:prstGeom prst="roundRect">
            <a:avLst/>
          </a:prstGeom>
          <a:solidFill>
            <a:srgbClr val="EAF9F3"/>
          </a:solidFill>
          <a:ln w="12700">
            <a:solidFill>
              <a:srgbClr val="BFE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11112" y="4672583"/>
            <a:ext cx="10972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37453"/>
                </a:solidFill>
                <a:latin typeface="Noto Sans CJK SC"/>
              </a:defRPr>
            </a:pPr>
            <a:r>
              <a:t>main / staging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71231" y="4672583"/>
            <a:ext cx="1033271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2E6B58"/>
                </a:solidFill>
                <a:latin typeface="Noto Sans CJK SC"/>
              </a:defRPr>
            </a:pPr>
            <a:r>
              <a:t>已经具备版本与灰度基础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06840" y="4581144"/>
            <a:ext cx="2286000" cy="630936"/>
          </a:xfrm>
          <a:prstGeom prst="roundRect">
            <a:avLst/>
          </a:prstGeom>
          <a:solidFill>
            <a:srgbClr val="EAF9F3"/>
          </a:solidFill>
          <a:ln w="12700">
            <a:solidFill>
              <a:srgbClr val="BFE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00" y="4672583"/>
            <a:ext cx="10972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37453"/>
                </a:solidFill>
                <a:latin typeface="Noto Sans CJK SC"/>
              </a:defRPr>
            </a:pPr>
            <a:r>
              <a:t>UX / cost / model 统计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04119" y="4672583"/>
            <a:ext cx="1033271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2E6B58"/>
                </a:solidFill>
                <a:latin typeface="Noto Sans CJK SC"/>
              </a:defRPr>
            </a:pPr>
            <a:r>
              <a:t>可直接成为统一评测数据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" y="5870448"/>
            <a:ext cx="10972800" cy="402336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" y="5961888"/>
            <a:ext cx="10561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F7F9FC"/>
                </a:solidFill>
                <a:latin typeface="Noto Sans CJK SC"/>
              </a:defRPr>
            </a:pPr>
            <a:r>
              <a:t>重构策略：把现有整条算法链先封装为一个默认内核，不立即重写算法逻辑。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6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30352" y="6574536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70" b="0">
                <a:solidFill>
                  <a:srgbClr val="6B7280"/>
                </a:solidFill>
                <a:latin typeface="Noto Sans CJK SC"/>
              </a:defRPr>
            </a:pPr>
            <a:r>
              <a:t>代码依据：src/xskill/pipeline/runner.py · agents/task_agent.py · task_cluster_agent.py · skill_edit_agent.py · canary.py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280"/>
                </a:solidFill>
                <a:latin typeface="Noto Sans CJK SC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D3B2"/>
                </a:solidFill>
                <a:latin typeface="Noto Sans CJK SC"/>
              </a:defRPr>
            </a:pPr>
            <a:r>
              <a:t>04 / 参考模式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11827"/>
                </a:solidFill>
                <a:latin typeface="Noto Sans CJK SC"/>
              </a:defRPr>
            </a:pPr>
            <a:r>
              <a:t>从 OpenMines 学什么：统一基类 + 配置选择实现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B7280"/>
                </a:solidFill>
                <a:latin typeface="Noto Sans CJK SC"/>
              </a:defRPr>
            </a:pPr>
            <a:r>
              <a:t>OpenMines 用 BaseDispatcher 固定方法集合，用 JSON 选择算法；XSkill 需要在此基础上补齐生产治理。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27632"/>
            <a:ext cx="5074920" cy="4489704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0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865376"/>
            <a:ext cx="1115568" cy="292608"/>
          </a:xfrm>
          <a:prstGeom prst="roundRect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874519"/>
            <a:ext cx="98755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1020"/>
                </a:solidFill>
                <a:latin typeface="Noto Sans CJK SC"/>
              </a:defRPr>
            </a:pPr>
            <a:r>
              <a:t>OpenMines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331720"/>
            <a:ext cx="4507992" cy="318211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0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331720"/>
            <a:ext cx="4507992" cy="274320"/>
          </a:xfrm>
          <a:prstGeom prst="roundRect">
            <a:avLst/>
          </a:prstGeom>
          <a:solidFill>
            <a:srgbClr val="15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2432303"/>
            <a:ext cx="73152" cy="73152"/>
          </a:xfrm>
          <a:prstGeom prst="ellipse">
            <a:avLst/>
          </a:prstGeom>
          <a:solidFill>
            <a:srgbClr val="EF6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8720" y="2432303"/>
            <a:ext cx="73152" cy="73152"/>
          </a:xfrm>
          <a:prstGeom prst="ellipse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71600" y="2432303"/>
            <a:ext cx="73152" cy="73152"/>
          </a:xfrm>
          <a:prstGeom prst="ellipse">
            <a:avLst/>
          </a:prstGeom>
          <a:solidFill>
            <a:srgbClr val="20B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18488" y="2368296"/>
            <a:ext cx="357530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AB4C8"/>
                </a:solidFill>
                <a:latin typeface="Noto Sans CJK SC"/>
              </a:defRPr>
            </a:pPr>
            <a:r>
              <a:t>BaseDispatcher + config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706624"/>
            <a:ext cx="4178807" cy="2706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DCE6F5"/>
                </a:solidFill>
                <a:latin typeface="Noto Sans Mono CJK SC"/>
              </a:defRPr>
            </a:pPr>
            <a:r>
              <a:t>class BaseDispatcher:</a:t>
            </a:r>
            <a:br/>
            <a:r>
              <a:t>    def give_init_order(self, truck, mine): ...</a:t>
            </a:r>
            <a:br/>
            <a:r>
              <a:t>    def give_haul_order(self, truck, mine): ...</a:t>
            </a:r>
            <a:br/>
            <a:r>
              <a:t>    def give_back_order(self, truck, mine): ...</a:t>
            </a:r>
            <a:br/>
            <a:br/>
            <a:r>
              <a:t>class NaiveDispatcher(BaseDispatcher):</a:t>
            </a:r>
            <a:br/>
            <a:r>
              <a:t>    def give_init_order(self, truck, mine):</a:t>
            </a:r>
            <a:br/>
            <a:r>
              <a:t>        return 0</a:t>
            </a:r>
            <a:br/>
            <a:br/>
            <a:r>
              <a:t># config.json</a:t>
            </a:r>
            <a:br/>
            <a:r>
              <a:t>{"dispatcher": {"type": ["NaiveDispatcher"]}}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5650992"/>
            <a:ext cx="10058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7D3B2"/>
                </a:solidFill>
                <a:latin typeface="Noto Sans CJK SC"/>
              </a:defRPr>
            </a:pPr>
            <a:r>
              <a:t>值得保留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7088" y="5641848"/>
            <a:ext cx="34930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AAB4C8"/>
                </a:solidFill>
                <a:latin typeface="Noto Sans CJK SC"/>
              </a:defRPr>
            </a:pPr>
            <a:r>
              <a:t>• 基类定义最小接口  • 算法与框架分工清楚  • 配置决定运行实现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1773936"/>
            <a:ext cx="21031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827"/>
                </a:solidFill>
                <a:latin typeface="Noto Sans CJK SC"/>
              </a:defRPr>
            </a:pPr>
            <a:r>
              <a:t>翻译到 XSkill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304288"/>
            <a:ext cx="1408176" cy="493776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423160"/>
            <a:ext cx="125272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394150"/>
                </a:solidFill>
                <a:latin typeface="Noto Sans CJK SC"/>
              </a:defRPr>
            </a:pPr>
            <a:r>
              <a:t>BaseDispatcher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25512" y="2551176"/>
            <a:ext cx="329184" cy="0"/>
          </a:xfrm>
          <a:prstGeom prst="line">
            <a:avLst/>
          </a:prstGeom>
          <a:ln w="2032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7827263" y="2487168"/>
            <a:ext cx="137160" cy="128016"/>
          </a:xfrm>
          <a:prstGeom prst="triangl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28431" y="2304288"/>
            <a:ext cx="1700784" cy="493776"/>
          </a:xfrm>
          <a:prstGeom prst="roundRect">
            <a:avLst/>
          </a:prstGeom>
          <a:solidFill>
            <a:srgbClr val="EEEAFE"/>
          </a:solidFill>
          <a:ln w="12700">
            <a:solidFill>
              <a:srgbClr val="D9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0727" y="2423160"/>
            <a:ext cx="153619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7B61FF"/>
                </a:solidFill>
                <a:latin typeface="Noto Sans CJK SC"/>
              </a:defRPr>
            </a:pPr>
            <a:r>
              <a:t>SkillGenerationKernel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2952" y="2350008"/>
            <a:ext cx="1572768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394150"/>
                </a:solidFill>
                <a:latin typeface="Noto Sans CJK SC"/>
              </a:defRPr>
            </a:pPr>
            <a:r>
              <a:t>固定输入 / 输出，不固定内部步骤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53328" y="3136392"/>
            <a:ext cx="1408176" cy="493776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255264"/>
            <a:ext cx="125272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394150"/>
                </a:solidFill>
                <a:latin typeface="Noto Sans CJK SC"/>
              </a:defRPr>
            </a:pPr>
            <a:r>
              <a:t>算法目录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525512" y="3383280"/>
            <a:ext cx="329184" cy="0"/>
          </a:xfrm>
          <a:prstGeom prst="line">
            <a:avLst/>
          </a:prstGeom>
          <a:ln w="2032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7827263" y="3319272"/>
            <a:ext cx="137160" cy="128016"/>
          </a:xfrm>
          <a:prstGeom prst="triangl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28431" y="3136392"/>
            <a:ext cx="1700784" cy="493776"/>
          </a:xfrm>
          <a:prstGeom prst="roundRect">
            <a:avLst/>
          </a:prstGeom>
          <a:solidFill>
            <a:srgbClr val="EEEAFE"/>
          </a:solidFill>
          <a:ln w="12700">
            <a:solidFill>
              <a:srgbClr val="D9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0727" y="3255264"/>
            <a:ext cx="153619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7B61FF"/>
                </a:solidFill>
                <a:latin typeface="Noto Sans CJK SC"/>
              </a:defRPr>
            </a:pPr>
            <a:r>
              <a:t>独立 wheel 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02952" y="3182112"/>
            <a:ext cx="1572768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394150"/>
                </a:solidFill>
                <a:latin typeface="Noto Sans CJK SC"/>
              </a:defRPr>
            </a:pPr>
            <a:r>
              <a:t>允许独立版本、依赖与发布节奏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53328" y="3968496"/>
            <a:ext cx="1408176" cy="493776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4087368"/>
            <a:ext cx="125272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394150"/>
                </a:solidFill>
                <a:latin typeface="Noto Sans CJK SC"/>
              </a:defRPr>
            </a:pPr>
            <a:r>
              <a:t>JSON type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525512" y="4215383"/>
            <a:ext cx="329184" cy="0"/>
          </a:xfrm>
          <a:prstGeom prst="line">
            <a:avLst/>
          </a:prstGeom>
          <a:ln w="2032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5400000">
            <a:off x="7827263" y="4151375"/>
            <a:ext cx="137160" cy="128016"/>
          </a:xfrm>
          <a:prstGeom prst="triangl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28431" y="3968496"/>
            <a:ext cx="1700784" cy="493776"/>
          </a:xfrm>
          <a:prstGeom prst="roundRect">
            <a:avLst/>
          </a:prstGeom>
          <a:solidFill>
            <a:srgbClr val="EEEAFE"/>
          </a:solidFill>
          <a:ln w="12700">
            <a:solidFill>
              <a:srgbClr val="D9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10727" y="4087368"/>
            <a:ext cx="153619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7B61FF"/>
                </a:solidFill>
                <a:latin typeface="Noto Sans CJK SC"/>
              </a:defRPr>
            </a:pPr>
            <a:r>
              <a:t>entry point + 配置修订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02952" y="4014215"/>
            <a:ext cx="1572768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394150"/>
                </a:solidFill>
                <a:latin typeface="Noto Sans CJK SC"/>
              </a:defRPr>
            </a:pPr>
            <a:r>
              <a:t>显式包名、版本与 schema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53328" y="4800600"/>
            <a:ext cx="1408176" cy="493776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4919472"/>
            <a:ext cx="125272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394150"/>
                </a:solidFill>
                <a:latin typeface="Noto Sans CJK SC"/>
              </a:defRPr>
            </a:pPr>
            <a:r>
              <a:t>运行后对比产量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525512" y="5047488"/>
            <a:ext cx="329184" cy="0"/>
          </a:xfrm>
          <a:prstGeom prst="line">
            <a:avLst/>
          </a:prstGeom>
          <a:ln w="2032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7827263" y="4983479"/>
            <a:ext cx="137160" cy="128016"/>
          </a:xfrm>
          <a:prstGeom prst="triangl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028431" y="4800600"/>
            <a:ext cx="1700784" cy="493776"/>
          </a:xfrm>
          <a:prstGeom prst="roundRect">
            <a:avLst/>
          </a:prstGeom>
          <a:solidFill>
            <a:srgbClr val="EEEAFE"/>
          </a:solidFill>
          <a:ln w="12700">
            <a:solidFill>
              <a:srgbClr val="D9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10727" y="4919472"/>
            <a:ext cx="153619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7B61FF"/>
                </a:solidFill>
                <a:latin typeface="Noto Sans CJK SC"/>
              </a:defRPr>
            </a:pPr>
            <a:r>
              <a:t>平台离线 / 影子 / 灰度评价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02952" y="4846320"/>
            <a:ext cx="1572768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394150"/>
                </a:solidFill>
                <a:latin typeface="Noto Sans CJK SC"/>
              </a:defRPr>
            </a:pPr>
            <a:r>
              <a:t>统一数据与裁决规则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53328" y="5724144"/>
            <a:ext cx="5422392" cy="393192"/>
          </a:xfrm>
          <a:prstGeom prst="roundRect">
            <a:avLst/>
          </a:prstGeom>
          <a:solidFill>
            <a:srgbClr val="FFF5DD"/>
          </a:solidFill>
          <a:ln w="12700">
            <a:solidFill>
              <a:srgbClr val="F4D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5806440"/>
            <a:ext cx="510235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40" b="1">
                <a:solidFill>
                  <a:srgbClr val="8A5A10"/>
                </a:solidFill>
                <a:latin typeface="Noto Sans CJK SC"/>
              </a:defRPr>
            </a:pPr>
            <a:r>
              <a:t>不照搬：生产环境不扫描目录猜类名；注册必须显式、可校验、可审计。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6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30352" y="6574536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70" b="0">
                <a:solidFill>
                  <a:srgbClr val="6B7280"/>
                </a:solidFill>
                <a:latin typeface="Noto Sans CJK SC"/>
              </a:defRPr>
            </a:pPr>
            <a:r>
              <a:t>参考：https://github.com/370025263/openmines（README / openmines/src/dispatcher.py / cli/run.py）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280"/>
                </a:solidFill>
                <a:latin typeface="Noto Sans CJK SC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D3B2"/>
                </a:solidFill>
                <a:latin typeface="Noto Sans CJK SC"/>
              </a:defRPr>
            </a:pPr>
            <a:r>
              <a:t>05 / 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7F9FC"/>
                </a:solidFill>
                <a:latin typeface="Noto Sans CJK SC"/>
              </a:defRPr>
            </a:pPr>
            <a:r>
              <a:t>目标架构：控制、执行、数据与评价分层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AAB4C8"/>
                </a:solidFill>
                <a:latin typeface="Noto Sans CJK SC"/>
              </a:defRPr>
            </a:pPr>
            <a:r>
              <a:t>对外保持一个 XSkill；对内把算法内核作为版本化插件运行。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691640"/>
            <a:ext cx="11009376" cy="722376"/>
          </a:xfrm>
          <a:prstGeom prst="roundRect">
            <a:avLst/>
          </a:prstGeom>
          <a:solidFill>
            <a:srgbClr val="151B2F"/>
          </a:solidFill>
          <a:ln w="12700">
            <a:solidFill>
              <a:srgbClr val="20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1691640"/>
            <a:ext cx="109728" cy="722376"/>
          </a:xfrm>
          <a:prstGeom prst="round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92808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DA3FF"/>
                </a:solidFill>
                <a:latin typeface="Noto Sans CJK SC"/>
              </a:defRPr>
            </a:pPr>
            <a:r>
              <a:t>控制层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7712" y="1901952"/>
            <a:ext cx="8906256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7F9FC"/>
                </a:solidFill>
                <a:latin typeface="Noto Sans CJK SC"/>
              </a:defRPr>
            </a:pPr>
            <a:r>
              <a:t>前端配置  ·  API  ·  插件目录  ·  配置修订  ·  权限 / 审计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2752344"/>
            <a:ext cx="11009376" cy="1417320"/>
          </a:xfrm>
          <a:prstGeom prst="roundRect">
            <a:avLst/>
          </a:prstGeom>
          <a:solidFill>
            <a:srgbClr val="151B2F"/>
          </a:solidFill>
          <a:ln w="12700">
            <a:solidFill>
              <a:srgbClr val="20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5216" y="2752344"/>
            <a:ext cx="109728" cy="1417320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953512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7B61FF"/>
                </a:solidFill>
                <a:latin typeface="Noto Sans CJK SC"/>
              </a:defRPr>
            </a:pPr>
            <a:r>
              <a:t>执行层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944368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AB4C8"/>
                </a:solidFill>
                <a:latin typeface="Noto Sans CJK SC"/>
              </a:defRPr>
            </a:pPr>
            <a:r>
              <a:t>任务路由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9544" y="3081527"/>
            <a:ext cx="429768" cy="0"/>
          </a:xfrm>
          <a:prstGeom prst="line">
            <a:avLst/>
          </a:prstGeom>
          <a:ln w="20320">
            <a:solidFill>
              <a:srgbClr val="AA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3611880" y="3017520"/>
            <a:ext cx="137160" cy="128016"/>
          </a:xfrm>
          <a:prstGeom prst="triangle">
            <a:avLst/>
          </a:prstGeom>
          <a:solidFill>
            <a:srgbClr val="AA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85615" y="2862072"/>
            <a:ext cx="1938528" cy="438912"/>
          </a:xfrm>
          <a:prstGeom prst="roundRect">
            <a:avLst/>
          </a:prstGeom>
          <a:solidFill>
            <a:srgbClr val="202A46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13632" y="2971800"/>
            <a:ext cx="16824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7F9FC"/>
                </a:solidFill>
                <a:latin typeface="Noto Sans CJK SC"/>
              </a:defRPr>
            </a:pPr>
            <a:r>
              <a:t>Runtime Manager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51576" y="3081527"/>
            <a:ext cx="393192" cy="0"/>
          </a:xfrm>
          <a:prstGeom prst="line">
            <a:avLst/>
          </a:prstGeom>
          <a:ln w="20320">
            <a:solidFill>
              <a:srgbClr val="AAB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6117336" y="3017520"/>
            <a:ext cx="137160" cy="128016"/>
          </a:xfrm>
          <a:prstGeom prst="triangle">
            <a:avLst/>
          </a:prstGeom>
          <a:solidFill>
            <a:srgbClr val="AA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27648" y="2862072"/>
            <a:ext cx="1389888" cy="438912"/>
          </a:xfrm>
          <a:prstGeom prst="roundRect">
            <a:avLst/>
          </a:prstGeom>
          <a:solidFill>
            <a:srgbClr val="202A46"/>
          </a:solidFill>
          <a:ln w="12700">
            <a:solidFill>
              <a:srgbClr val="27D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2971800"/>
            <a:ext cx="126187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19" b="1">
                <a:solidFill>
                  <a:srgbClr val="27D3B2"/>
                </a:solidFill>
                <a:latin typeface="Noto Sans CJK SC"/>
              </a:defRPr>
            </a:pPr>
            <a:r>
              <a:t>builtin-atomtask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46136" y="2862072"/>
            <a:ext cx="1389888" cy="438912"/>
          </a:xfrm>
          <a:prstGeom prst="roundRect">
            <a:avLst/>
          </a:prstGeom>
          <a:solidFill>
            <a:srgbClr val="202A46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0144" y="2971800"/>
            <a:ext cx="126187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19" b="1">
                <a:solidFill>
                  <a:srgbClr val="7B61FF"/>
                </a:solidFill>
                <a:latin typeface="Noto Sans CJK SC"/>
              </a:defRPr>
            </a:pPr>
            <a:r>
              <a:t>team-a@1.3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64624" y="2862072"/>
            <a:ext cx="1389888" cy="438912"/>
          </a:xfrm>
          <a:prstGeom prst="roundRect">
            <a:avLst/>
          </a:prstGeom>
          <a:solidFill>
            <a:srgbClr val="202A46"/>
          </a:solidFill>
          <a:ln w="12700">
            <a:solidFill>
              <a:srgbClr val="F4B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8632" y="2971800"/>
            <a:ext cx="126187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19" b="1">
                <a:solidFill>
                  <a:srgbClr val="F4B740"/>
                </a:solidFill>
                <a:latin typeface="Noto Sans CJK SC"/>
              </a:defRPr>
            </a:pPr>
            <a:r>
              <a:t>team-b@0.9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3611879"/>
            <a:ext cx="873252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F7F9FC"/>
                </a:solidFill>
                <a:latin typeface="Noto Sans CJK SC"/>
              </a:defRPr>
            </a:pPr>
            <a:r>
              <a:t>每个 run 固定：kernel_name + kernel_version + config_revision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5216" y="4663440"/>
            <a:ext cx="11009376" cy="722376"/>
          </a:xfrm>
          <a:prstGeom prst="roundRect">
            <a:avLst/>
          </a:prstGeom>
          <a:solidFill>
            <a:srgbClr val="151B2F"/>
          </a:solidFill>
          <a:ln w="12700">
            <a:solidFill>
              <a:srgbClr val="20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85216" y="4663440"/>
            <a:ext cx="109728" cy="722376"/>
          </a:xfrm>
          <a:prstGeom prst="roundRect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4864607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7D3B2"/>
                </a:solidFill>
                <a:latin typeface="Noto Sans CJK SC"/>
              </a:defRPr>
            </a:pPr>
            <a:r>
              <a:t>数据与评价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7712" y="4873752"/>
            <a:ext cx="8906256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7F9FC"/>
                </a:solidFill>
                <a:latin typeface="Noto Sans CJK SC"/>
              </a:defRPr>
            </a:pPr>
            <a:r>
              <a:t>Trajectory Store  ·  Artifact Store  ·  Skill Repo  ·  Evaluator  ·  Distributor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6007608" y="2441448"/>
            <a:ext cx="91440" cy="265176"/>
          </a:xfrm>
          <a:prstGeom prst="line">
            <a:avLst/>
          </a:prstGeom>
          <a:ln w="20320">
            <a:solidFill>
              <a:srgbClr val="4D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5980176" y="2642616"/>
            <a:ext cx="137160" cy="128016"/>
          </a:xfrm>
          <a:prstGeom prst="triangl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H="1">
            <a:off x="6007608" y="4233672"/>
            <a:ext cx="91440" cy="384048"/>
          </a:xfrm>
          <a:prstGeom prst="line">
            <a:avLst/>
          </a:prstGeom>
          <a:ln w="20320">
            <a:solidFill>
              <a:srgbClr val="27D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5980176" y="4553712"/>
            <a:ext cx="137160" cy="128016"/>
          </a:xfrm>
          <a:prstGeom prst="triangle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517904" y="5797296"/>
            <a:ext cx="9134856" cy="402336"/>
          </a:xfrm>
          <a:prstGeom prst="roundRect">
            <a:avLst/>
          </a:prstGeom>
          <a:solidFill>
            <a:srgbClr val="202A46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55648" y="5888736"/>
            <a:ext cx="86685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7F9FC"/>
                </a:solidFill>
                <a:latin typeface="Noto Sans CJK SC"/>
              </a:defRPr>
            </a:pPr>
            <a:r>
              <a:t>关键原则：平台通过 SDK 服务向内核提供能力；内核不反向依赖 xskill 内部模块。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20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AAB4C8"/>
                </a:solidFill>
                <a:latin typeface="Noto Sans CJK SC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D3B2"/>
                </a:solidFill>
                <a:latin typeface="Noto Sans CJK SC"/>
              </a:defRPr>
            </a:pPr>
            <a:r>
              <a:t>06 / 数据契约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11827"/>
                </a:solidFill>
                <a:latin typeface="Noto Sans CJK SC"/>
              </a:defRPr>
            </a:pPr>
            <a:r>
              <a:t>替换的是算法，不能替换输入输出语义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B7280"/>
                </a:solidFill>
                <a:latin typeface="Noto Sans CJK SC"/>
              </a:defRPr>
            </a:pPr>
            <a:r>
              <a:t>统一契约让不同管线可以比较、重放、回滚，也让前端知道如何展示配置与结果。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47088"/>
            <a:ext cx="2953512" cy="3438144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C8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2075688"/>
            <a:ext cx="1572768" cy="292608"/>
          </a:xfrm>
          <a:prstGeom prst="round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84831"/>
            <a:ext cx="144475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1020"/>
                </a:solidFill>
                <a:latin typeface="Noto Sans CJK SC"/>
              </a:defRPr>
            </a:pPr>
            <a:r>
              <a:t>KernelRunRequest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79192"/>
            <a:ext cx="91440" cy="9144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24328"/>
            <a:ext cx="19933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70" b="0">
                <a:solidFill>
                  <a:srgbClr val="394150"/>
                </a:solidFill>
                <a:latin typeface="Noto Sans CJK SC"/>
              </a:defRPr>
            </a:pPr>
            <a:r>
              <a:t>run_id / tenant / user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063240"/>
            <a:ext cx="91440" cy="9144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008376"/>
            <a:ext cx="19933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70" b="0">
                <a:solidFill>
                  <a:srgbClr val="394150"/>
                </a:solidFill>
                <a:latin typeface="Noto Sans CJK SC"/>
              </a:defRPr>
            </a:pPr>
            <a:r>
              <a:t>trajectory_refs（只读引用）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447288"/>
            <a:ext cx="91440" cy="9144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392424"/>
            <a:ext cx="19933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70" b="0">
                <a:solidFill>
                  <a:srgbClr val="394150"/>
                </a:solidFill>
                <a:latin typeface="Noto Sans CJK SC"/>
              </a:defRPr>
            </a:pPr>
            <a:r>
              <a:t>kernel + version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3831336"/>
            <a:ext cx="91440" cy="9144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776472"/>
            <a:ext cx="19933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70" b="0">
                <a:solidFill>
                  <a:srgbClr val="394150"/>
                </a:solidFill>
                <a:latin typeface="Noto Sans CJK SC"/>
              </a:defRPr>
            </a:pPr>
            <a:r>
              <a:t>config_revision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4215384"/>
            <a:ext cx="91440" cy="9144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160520"/>
            <a:ext cx="19933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70" b="0">
                <a:solidFill>
                  <a:srgbClr val="394150"/>
                </a:solidFill>
                <a:latin typeface="Noto Sans CJK SC"/>
              </a:defRPr>
            </a:pPr>
            <a:r>
              <a:t>resource_budget / deadline</a:t>
            </a:r>
          </a:p>
        </p:txBody>
      </p:sp>
      <p:sp>
        <p:nvSpPr>
          <p:cNvPr id="18" name="Oval 17"/>
          <p:cNvSpPr/>
          <p:nvPr/>
        </p:nvSpPr>
        <p:spPr>
          <a:xfrm>
            <a:off x="941832" y="4599432"/>
            <a:ext cx="91440" cy="9144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544568"/>
            <a:ext cx="19933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70" b="0">
                <a:solidFill>
                  <a:srgbClr val="394150"/>
                </a:solidFill>
                <a:latin typeface="Noto Sans CJK SC"/>
              </a:defRPr>
            </a:pPr>
            <a:r>
              <a:t>trace_context</a:t>
            </a:r>
          </a:p>
        </p:txBody>
      </p:sp>
      <p:sp>
        <p:nvSpPr>
          <p:cNvPr id="20" name="Hexagon 19"/>
          <p:cNvSpPr/>
          <p:nvPr/>
        </p:nvSpPr>
        <p:spPr>
          <a:xfrm>
            <a:off x="4160520" y="2514600"/>
            <a:ext cx="3813048" cy="2157984"/>
          </a:xfrm>
          <a:prstGeom prst="hexagon">
            <a:avLst/>
          </a:prstGeom>
          <a:solidFill>
            <a:srgbClr val="0B1020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8576" y="3008376"/>
            <a:ext cx="291693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7F9FC"/>
                </a:solidFill>
                <a:latin typeface="Noto Sans CJK SC"/>
              </a:defRPr>
            </a:pPr>
            <a:r>
              <a:t>SkillGenerationKernel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37176" y="3456432"/>
            <a:ext cx="245973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7D3B2"/>
                </a:solidFill>
                <a:latin typeface="Noto Sans CJK SC"/>
              </a:defRPr>
            </a:pPr>
            <a:r>
              <a:t>内部步骤完全自由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3803904"/>
            <a:ext cx="27889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30" b="0">
                <a:solidFill>
                  <a:srgbClr val="AAB4C8"/>
                </a:solidFill>
                <a:latin typeface="Noto Sans CJK SC"/>
              </a:defRPr>
            </a:pPr>
            <a:r>
              <a:t>TaskAgent 不是公共接口</a:t>
            </a:r>
            <a:br/>
            <a:r>
              <a:t>AtomTask 可以是某个内核的内部表示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1847088"/>
            <a:ext cx="2953512" cy="3438144"/>
          </a:xfrm>
          <a:prstGeom prst="roundRect">
            <a:avLst/>
          </a:prstGeom>
          <a:solidFill>
            <a:srgbClr val="ECFAF6"/>
          </a:solidFill>
          <a:ln w="12700">
            <a:solidFill>
              <a:srgbClr val="C7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97112" y="2075688"/>
            <a:ext cx="1527048" cy="292608"/>
          </a:xfrm>
          <a:prstGeom prst="roundRect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2084831"/>
            <a:ext cx="1399031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1020"/>
                </a:solidFill>
                <a:latin typeface="Noto Sans CJK SC"/>
              </a:defRPr>
            </a:pPr>
            <a:r>
              <a:t>KernelRunResult</a:t>
            </a:r>
          </a:p>
        </p:txBody>
      </p:sp>
      <p:sp>
        <p:nvSpPr>
          <p:cNvPr id="27" name="Oval 26"/>
          <p:cNvSpPr/>
          <p:nvPr/>
        </p:nvSpPr>
        <p:spPr>
          <a:xfrm>
            <a:off x="8942832" y="2679192"/>
            <a:ext cx="91440" cy="91440"/>
          </a:xfrm>
          <a:prstGeom prst="ellipse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2624328"/>
            <a:ext cx="19933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70" b="0">
                <a:solidFill>
                  <a:srgbClr val="394150"/>
                </a:solidFill>
                <a:latin typeface="Noto Sans CJK SC"/>
              </a:defRPr>
            </a:pPr>
            <a:r>
              <a:t>SkillArtifact[]</a:t>
            </a:r>
          </a:p>
        </p:txBody>
      </p:sp>
      <p:sp>
        <p:nvSpPr>
          <p:cNvPr id="29" name="Oval 28"/>
          <p:cNvSpPr/>
          <p:nvPr/>
        </p:nvSpPr>
        <p:spPr>
          <a:xfrm>
            <a:off x="8942832" y="3063240"/>
            <a:ext cx="91440" cy="91440"/>
          </a:xfrm>
          <a:prstGeom prst="ellipse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3008376"/>
            <a:ext cx="19933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70" b="0">
                <a:solidFill>
                  <a:srgbClr val="394150"/>
                </a:solidFill>
                <a:latin typeface="Noto Sans CJK SC"/>
              </a:defRPr>
            </a:pPr>
            <a:r>
              <a:t>SKILL.md + 辅助文件</a:t>
            </a:r>
          </a:p>
        </p:txBody>
      </p:sp>
      <p:sp>
        <p:nvSpPr>
          <p:cNvPr id="31" name="Oval 30"/>
          <p:cNvSpPr/>
          <p:nvPr/>
        </p:nvSpPr>
        <p:spPr>
          <a:xfrm>
            <a:off x="8942832" y="3447288"/>
            <a:ext cx="91440" cy="91440"/>
          </a:xfrm>
          <a:prstGeom prst="ellipse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3392424"/>
            <a:ext cx="19933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70" b="0">
                <a:solidFill>
                  <a:srgbClr val="394150"/>
                </a:solidFill>
                <a:latin typeface="Noto Sans CJK SC"/>
              </a:defRPr>
            </a:pPr>
            <a:r>
              <a:t>lineage（来源轨迹 / atom）</a:t>
            </a:r>
          </a:p>
        </p:txBody>
      </p:sp>
      <p:sp>
        <p:nvSpPr>
          <p:cNvPr id="33" name="Oval 32"/>
          <p:cNvSpPr/>
          <p:nvPr/>
        </p:nvSpPr>
        <p:spPr>
          <a:xfrm>
            <a:off x="8942832" y="3831336"/>
            <a:ext cx="91440" cy="91440"/>
          </a:xfrm>
          <a:prstGeom prst="ellipse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3776472"/>
            <a:ext cx="19933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70" b="0">
                <a:solidFill>
                  <a:srgbClr val="394150"/>
                </a:solidFill>
                <a:latin typeface="Noto Sans CJK SC"/>
              </a:defRPr>
            </a:pPr>
            <a:r>
              <a:t>metrics（诊断，不作裁决）</a:t>
            </a:r>
          </a:p>
        </p:txBody>
      </p:sp>
      <p:sp>
        <p:nvSpPr>
          <p:cNvPr id="35" name="Oval 34"/>
          <p:cNvSpPr/>
          <p:nvPr/>
        </p:nvSpPr>
        <p:spPr>
          <a:xfrm>
            <a:off x="8942832" y="4215384"/>
            <a:ext cx="91440" cy="91440"/>
          </a:xfrm>
          <a:prstGeom prst="ellipse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4160520"/>
            <a:ext cx="19933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70" b="0">
                <a:solidFill>
                  <a:srgbClr val="394150"/>
                </a:solidFill>
                <a:latin typeface="Noto Sans CJK SC"/>
              </a:defRPr>
            </a:pPr>
            <a:r>
              <a:t>events / warnings</a:t>
            </a:r>
          </a:p>
        </p:txBody>
      </p:sp>
      <p:sp>
        <p:nvSpPr>
          <p:cNvPr id="37" name="Oval 36"/>
          <p:cNvSpPr/>
          <p:nvPr/>
        </p:nvSpPr>
        <p:spPr>
          <a:xfrm>
            <a:off x="8942832" y="4599432"/>
            <a:ext cx="91440" cy="91440"/>
          </a:xfrm>
          <a:prstGeom prst="ellipse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4544568"/>
            <a:ext cx="19933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70" b="0">
                <a:solidFill>
                  <a:srgbClr val="394150"/>
                </a:solidFill>
                <a:latin typeface="Noto Sans CJK SC"/>
              </a:defRPr>
            </a:pPr>
            <a:r>
              <a:t>可复现的运行元数据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575304" y="3584448"/>
            <a:ext cx="420624" cy="0"/>
          </a:xfrm>
          <a:prstGeom prst="line">
            <a:avLst/>
          </a:prstGeom>
          <a:ln w="25400">
            <a:solidFill>
              <a:srgbClr val="4D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5400000">
            <a:off x="3968496" y="3520440"/>
            <a:ext cx="137160" cy="128016"/>
          </a:xfrm>
          <a:prstGeom prst="triangl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8001000" y="3584448"/>
            <a:ext cx="438912" cy="0"/>
          </a:xfrm>
          <a:prstGeom prst="line">
            <a:avLst/>
          </a:prstGeom>
          <a:ln w="25400">
            <a:solidFill>
              <a:srgbClr val="27D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8412480" y="3520440"/>
            <a:ext cx="137160" cy="128016"/>
          </a:xfrm>
          <a:prstGeom prst="triangle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" y="5559552"/>
            <a:ext cx="3438144" cy="65836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03504" y="5559552"/>
            <a:ext cx="64008" cy="658368"/>
          </a:xfrm>
          <a:prstGeom prst="round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" y="5724144"/>
            <a:ext cx="305409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11827"/>
                </a:solidFill>
                <a:latin typeface="Noto Sans CJK SC"/>
              </a:defRPr>
            </a:pPr>
            <a:r>
              <a:t>只读输入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" y="6135624"/>
            <a:ext cx="3044951" cy="-548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40" b="0">
                <a:solidFill>
                  <a:srgbClr val="394150"/>
                </a:solidFill>
                <a:latin typeface="Noto Sans CJK SC"/>
              </a:defRPr>
            </a:pPr>
            <a:r>
              <a:t>内核不能修改原轨迹与用户元数据。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70832" y="5559552"/>
            <a:ext cx="3438144" cy="65836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370832" y="5559552"/>
            <a:ext cx="64008" cy="658368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99432" y="5724144"/>
            <a:ext cx="305409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11827"/>
                </a:solidFill>
                <a:latin typeface="Noto Sans CJK SC"/>
              </a:defRPr>
            </a:pPr>
            <a:r>
              <a:t>不可变产物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99432" y="6135624"/>
            <a:ext cx="3044951" cy="-548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40" b="0">
                <a:solidFill>
                  <a:srgbClr val="394150"/>
                </a:solidFill>
                <a:latin typeface="Noto Sans CJK SC"/>
              </a:defRPr>
            </a:pPr>
            <a:r>
              <a:t>先写 Artifact Store，通过门禁后再发布。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29016" y="5559552"/>
            <a:ext cx="3438144" cy="65836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129016" y="5559552"/>
            <a:ext cx="64008" cy="658368"/>
          </a:xfrm>
          <a:prstGeom prst="roundRect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57616" y="5724144"/>
            <a:ext cx="305409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11827"/>
                </a:solidFill>
                <a:latin typeface="Noto Sans CJK SC"/>
              </a:defRPr>
            </a:pPr>
            <a:r>
              <a:t>全链路追溯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57616" y="6135624"/>
            <a:ext cx="3044951" cy="-548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40" b="0">
                <a:solidFill>
                  <a:srgbClr val="394150"/>
                </a:solidFill>
                <a:latin typeface="Noto Sans CJK SC"/>
              </a:defRPr>
            </a:pPr>
            <a:r>
              <a:t>每个 Skill 能回答来源与生成版本。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6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280"/>
                </a:solidFill>
                <a:latin typeface="Noto Sans CJK SC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D3B2"/>
                </a:solidFill>
                <a:latin typeface="Noto Sans CJK SC"/>
              </a:defRPr>
            </a:pPr>
            <a:r>
              <a:t>07 /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11827"/>
                </a:solidFill>
                <a:latin typeface="Noto Sans CJK SC"/>
              </a:defRPr>
            </a:pPr>
            <a:r>
              <a:t>统一抽象接口：算法团队只实现四个入口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B7280"/>
                </a:solidFill>
                <a:latin typeface="Noto Sans CJK SC"/>
              </a:defRPr>
            </a:pPr>
            <a:r>
              <a:t>接口要小、数据结构要强；不要把现有 TaskAgent / ClusterAgent 类直接变成公共 API。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709928"/>
            <a:ext cx="6492240" cy="446227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0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" y="1709928"/>
            <a:ext cx="6492240" cy="274320"/>
          </a:xfrm>
          <a:prstGeom prst="roundRect">
            <a:avLst/>
          </a:prstGeom>
          <a:solidFill>
            <a:srgbClr val="15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8096" y="1810512"/>
            <a:ext cx="73152" cy="73152"/>
          </a:xfrm>
          <a:prstGeom prst="ellipse">
            <a:avLst/>
          </a:prstGeom>
          <a:solidFill>
            <a:srgbClr val="EF6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0976" y="1810512"/>
            <a:ext cx="73152" cy="73152"/>
          </a:xfrm>
          <a:prstGeom prst="ellipse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3856" y="1810512"/>
            <a:ext cx="73152" cy="73152"/>
          </a:xfrm>
          <a:prstGeom prst="ellipse">
            <a:avLst/>
          </a:prstGeom>
          <a:solidFill>
            <a:srgbClr val="20B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0744" y="1746504"/>
            <a:ext cx="55595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AB4C8"/>
                </a:solidFill>
                <a:latin typeface="Noto Sans CJK SC"/>
              </a:defRPr>
            </a:pPr>
            <a:r>
              <a:t>xskill-kernel-sdk / contract.py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084832"/>
            <a:ext cx="6163055" cy="398678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defRPr sz="1230" b="0">
                <a:solidFill>
                  <a:srgbClr val="DCE6F5"/>
                </a:solidFill>
                <a:latin typeface="Noto Sans Mono CJK SC"/>
              </a:defRPr>
            </a:pPr>
            <a:r>
              <a:t>class SkillGenerationKernel(ABC):</a:t>
            </a:r>
            <a:br/>
            <a:r>
              <a:t>    @classmethod</a:t>
            </a:r>
            <a:br/>
            <a:r>
              <a:t>    def manifest(cls) -&gt; KernelManifest: ...</a:t>
            </a:r>
            <a:br/>
            <a:br/>
            <a:r>
              <a:t>    @classmethod</a:t>
            </a:r>
            <a:br/>
            <a:r>
              <a:t>    def config_schema(cls) -&gt; Mapping[str, Any]: ...</a:t>
            </a:r>
            <a:br/>
            <a:br/>
            <a:r>
              <a:t>    def validate_config(self) -&gt; None: ...</a:t>
            </a:r>
            <a:br/>
            <a:br/>
            <a:r>
              <a:t>    def run(</a:t>
            </a:r>
            <a:br/>
            <a:r>
              <a:t>        self,</a:t>
            </a:r>
            <a:br/>
            <a:r>
              <a:t>        request: KernelRunRequest,</a:t>
            </a:r>
            <a:br/>
            <a:r>
              <a:t>        services: KernelServices,</a:t>
            </a:r>
            <a:br/>
            <a:r>
              <a:t>    ) -&gt; KernelRunResult: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783080"/>
            <a:ext cx="34747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827"/>
                </a:solidFill>
                <a:latin typeface="Noto Sans CJK SC"/>
              </a:defRPr>
            </a:pPr>
            <a:r>
              <a:t>为什么只暴露 run？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43216" y="2276856"/>
            <a:ext cx="4069080" cy="93268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43216" y="2276856"/>
            <a:ext cx="64008" cy="932688"/>
          </a:xfrm>
          <a:prstGeom prst="roundRect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71816" y="2441448"/>
            <a:ext cx="368503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30" b="1">
                <a:solidFill>
                  <a:srgbClr val="111827"/>
                </a:solidFill>
                <a:latin typeface="Noto Sans CJK SC"/>
              </a:defRPr>
            </a:pPr>
            <a:r>
              <a:t>允许算法自由组织阶段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71816" y="2852928"/>
            <a:ext cx="367588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69" b="0">
                <a:solidFill>
                  <a:srgbClr val="394150"/>
                </a:solidFill>
                <a:latin typeface="Noto Sans CJK SC"/>
              </a:defRPr>
            </a:pPr>
            <a:r>
              <a:t>有的内核是三段 Agent，有的可能是端到端模型或工作流引擎。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43216" y="3410712"/>
            <a:ext cx="4069080" cy="93268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43216" y="3410712"/>
            <a:ext cx="64008" cy="932688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71816" y="3575304"/>
            <a:ext cx="368503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30" b="1">
                <a:solidFill>
                  <a:srgbClr val="111827"/>
                </a:solidFill>
                <a:latin typeface="Noto Sans CJK SC"/>
              </a:defRPr>
            </a:pPr>
            <a:r>
              <a:t>减少跨版本锁定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1816" y="3986784"/>
            <a:ext cx="367588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69" b="0">
                <a:solidFill>
                  <a:srgbClr val="394150"/>
                </a:solidFill>
                <a:latin typeface="Noto Sans CJK SC"/>
              </a:defRPr>
            </a:pPr>
            <a:r>
              <a:t>平台不依赖 AtomTask、candidate buffer 等某一种内部实现。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43216" y="4544568"/>
            <a:ext cx="4069080" cy="93268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43216" y="4544568"/>
            <a:ext cx="64008" cy="932688"/>
          </a:xfrm>
          <a:prstGeom prst="round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71816" y="4709160"/>
            <a:ext cx="368503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30" b="1">
                <a:solidFill>
                  <a:srgbClr val="111827"/>
                </a:solidFill>
                <a:latin typeface="Noto Sans CJK SC"/>
              </a:defRPr>
            </a:pPr>
            <a:r>
              <a:t>评价以产物为中心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71816" y="5120640"/>
            <a:ext cx="367588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69" b="0">
                <a:solidFill>
                  <a:srgbClr val="394150"/>
                </a:solidFill>
                <a:latin typeface="Noto Sans CJK SC"/>
              </a:defRPr>
            </a:pPr>
            <a:r>
              <a:t>统一比较最终 Skill、lineage、成本和时延，而不是比较内部日志格式。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43216" y="5751576"/>
            <a:ext cx="4069080" cy="420624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6096" y="5843016"/>
            <a:ext cx="368503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80" b="1">
                <a:solidFill>
                  <a:srgbClr val="F7F9FC"/>
                </a:solidFill>
                <a:latin typeface="Noto Sans CJK SC"/>
              </a:defRPr>
            </a:pPr>
            <a:r>
              <a:t>KernelServices 只给受控能力：读轨迹、调用模型、写临时产物、发事件。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6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280"/>
                </a:solidFill>
                <a:latin typeface="Noto Sans CJK SC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D3B2"/>
                </a:solidFill>
                <a:latin typeface="Noto Sans CJK SC"/>
              </a:defRPr>
            </a:pPr>
            <a:r>
              <a:t>08 / 包规范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11827"/>
                </a:solidFill>
                <a:latin typeface="Noto Sans CJK SC"/>
              </a:defRPr>
            </a:pPr>
            <a:r>
              <a:t>推荐交付方式：独立 Python 包 + entry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B7280"/>
                </a:solidFill>
                <a:latin typeface="Noto Sans CJK SC"/>
              </a:defRPr>
            </a:pPr>
            <a:r>
              <a:t>脚本路径适合本地调试；生产环境必须可版本化、可安装、可校验。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73352"/>
            <a:ext cx="3904487" cy="452628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1901952"/>
            <a:ext cx="850392" cy="292608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911095"/>
            <a:ext cx="72237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7F9FC"/>
                </a:solidFill>
                <a:latin typeface="Noto Sans CJK SC"/>
              </a:defRPr>
            </a:pPr>
            <a:r>
              <a:t>包目录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41448"/>
            <a:ext cx="3328416" cy="3063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394150"/>
                </a:solidFill>
                <a:latin typeface="Noto Sans Mono CJK SC"/>
              </a:defRPr>
            </a:pPr>
            <a:r>
              <a:t>xskill-kernel-team-a/</a:t>
            </a:r>
            <a:br/>
            <a:r>
              <a:t>├── pyproject.toml</a:t>
            </a:r>
            <a:br/>
            <a:r>
              <a:t>├── README.md</a:t>
            </a:r>
            <a:br/>
            <a:r>
              <a:t>├── team_a_kernel/</a:t>
            </a:r>
            <a:br/>
            <a:r>
              <a:t>│   ├── kernel.py       ← SDK 适配层</a:t>
            </a:r>
            <a:br/>
            <a:r>
              <a:t>│   ├── config.py       ← 配置模型 / schema</a:t>
            </a:r>
            <a:br/>
            <a:r>
              <a:t>│   ├── algo_core/      ← 算法包</a:t>
            </a:r>
            <a:br/>
            <a:r>
              <a:t>│   └── resources/</a:t>
            </a:r>
            <a:br/>
            <a:r>
              <a:t>└── tests/</a:t>
            </a:r>
            <a:br/>
            <a:r>
              <a:t>    ├── test_contract.py</a:t>
            </a:r>
            <a:br/>
            <a:r>
              <a:t>    └── fixtures/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678424"/>
            <a:ext cx="3255264" cy="329184"/>
          </a:xfrm>
          <a:prstGeom prst="roundRect">
            <a:avLst/>
          </a:prstGeom>
          <a:solidFill>
            <a:srgbClr val="E8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742432"/>
            <a:ext cx="298094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69" b="1">
                <a:solidFill>
                  <a:srgbClr val="0F8F7B"/>
                </a:solidFill>
                <a:latin typeface="Noto Sans CJK SC"/>
              </a:defRPr>
            </a:pPr>
            <a:r>
              <a:t>kernel.py 薄；核心算法仍由算法团队原包维护。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64608" y="1682496"/>
            <a:ext cx="6720840" cy="2907792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0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64608" y="1682496"/>
            <a:ext cx="6720840" cy="274320"/>
          </a:xfrm>
          <a:prstGeom prst="roundRect">
            <a:avLst/>
          </a:prstGeom>
          <a:solidFill>
            <a:srgbClr val="15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29200" y="1783080"/>
            <a:ext cx="73152" cy="73152"/>
          </a:xfrm>
          <a:prstGeom prst="ellipse">
            <a:avLst/>
          </a:prstGeom>
          <a:solidFill>
            <a:srgbClr val="EF6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12080" y="1783080"/>
            <a:ext cx="73152" cy="73152"/>
          </a:xfrm>
          <a:prstGeom prst="ellipse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94960" y="1783080"/>
            <a:ext cx="73152" cy="73152"/>
          </a:xfrm>
          <a:prstGeom prst="ellipse">
            <a:avLst/>
          </a:prstGeom>
          <a:solidFill>
            <a:srgbClr val="20B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41848" y="1719072"/>
            <a:ext cx="57881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AB4C8"/>
                </a:solidFill>
                <a:latin typeface="Noto Sans CJK SC"/>
              </a:defRPr>
            </a:pPr>
            <a:r>
              <a:t>pyproject.toml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057400"/>
            <a:ext cx="6391655" cy="2432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DCE6F5"/>
                </a:solidFill>
                <a:latin typeface="Noto Sans Mono CJK SC"/>
              </a:defRPr>
            </a:pPr>
            <a:r>
              <a:t>[project]</a:t>
            </a:r>
            <a:br/>
            <a:r>
              <a:t>name = "xskill-kernel-team-a"</a:t>
            </a:r>
            <a:br/>
            <a:r>
              <a:t>version = "1.3.0"</a:t>
            </a:r>
            <a:br/>
            <a:r>
              <a:t>dependencies = [</a:t>
            </a:r>
            <a:br/>
            <a:r>
              <a:t>  "xskill-kernel-sdk&gt;=1,&lt;2",</a:t>
            </a:r>
            <a:br/>
            <a:r>
              <a:t>  "team-a-algo==4.2.1",</a:t>
            </a:r>
            <a:br/>
            <a:r>
              <a:t>]</a:t>
            </a:r>
            <a:br/>
            <a:br/>
            <a:r>
              <a:t>[project.entry-points."xskill.skillgen_kernels"]</a:t>
            </a:r>
            <a:br/>
            <a:r>
              <a:t>team-a = "team_a_kernel.kernel:TeamAKernel"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489204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11827"/>
                </a:solidFill>
                <a:latin typeface="Noto Sans CJK SC"/>
              </a:defRPr>
            </a:pPr>
            <a:r>
              <a:t>两种加载模式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82896" y="5276088"/>
            <a:ext cx="3154680" cy="84124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82896" y="5276088"/>
            <a:ext cx="64008" cy="841248"/>
          </a:xfrm>
          <a:prstGeom prst="round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11496" y="5440679"/>
            <a:ext cx="277063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11827"/>
                </a:solidFill>
                <a:latin typeface="Noto Sans CJK SC"/>
              </a:defRPr>
            </a:pPr>
            <a:r>
              <a:t>开发模式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11496" y="5852159"/>
            <a:ext cx="2761488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394150"/>
                </a:solidFill>
                <a:latin typeface="Noto Sans CJK SC"/>
              </a:defRPr>
            </a:pPr>
            <a:r>
              <a:t>module:Class；本地快速修改和调试。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48472" y="5276088"/>
            <a:ext cx="3236976" cy="84124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48472" y="5276088"/>
            <a:ext cx="64008" cy="841248"/>
          </a:xfrm>
          <a:prstGeom prst="roundRect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5440679"/>
            <a:ext cx="285292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11827"/>
                </a:solidFill>
                <a:latin typeface="Noto Sans CJK SC"/>
              </a:defRPr>
            </a:pPr>
            <a:r>
              <a:t>生产模式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7072" y="5852159"/>
            <a:ext cx="2843784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394150"/>
                </a:solidFill>
                <a:latin typeface="Noto Sans CJK SC"/>
              </a:defRPr>
            </a:pPr>
            <a:r>
              <a:t>package + version + entry point；安装后进入注册表。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6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280"/>
                </a:solidFill>
                <a:latin typeface="Noto Sans CJK SC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D3B2"/>
                </a:solidFill>
                <a:latin typeface="Noto Sans CJK SC"/>
              </a:defRPr>
            </a:pPr>
            <a:r>
              <a:t>09 / 热切换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7F9FC"/>
                </a:solidFill>
                <a:latin typeface="Noto Sans CJK SC"/>
              </a:defRPr>
            </a:pPr>
            <a:r>
              <a:t>“热更换”定义：服务不停，新任务切换，在途任务不变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AAB4C8"/>
                </a:solidFill>
                <a:latin typeface="Noto Sans CJK SC"/>
              </a:defRPr>
            </a:pPr>
            <a:r>
              <a:t>不要在同一 Python 进程里 reload 已运行的模块；依赖、缓存和全局状态都可能失控。</a:t>
            </a:r>
          </a:p>
        </p:txBody>
      </p:sp>
      <p:sp>
        <p:nvSpPr>
          <p:cNvPr id="5" name="Oval 4"/>
          <p:cNvSpPr/>
          <p:nvPr/>
        </p:nvSpPr>
        <p:spPr>
          <a:xfrm>
            <a:off x="667512" y="2020824"/>
            <a:ext cx="438912" cy="438912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093976"/>
            <a:ext cx="43891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020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2633472"/>
            <a:ext cx="14447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7F9FC"/>
                </a:solidFill>
                <a:latin typeface="Noto Sans CJK SC"/>
              </a:defRPr>
            </a:pPr>
            <a:r>
              <a:t>保存草稿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2971800"/>
            <a:ext cx="157276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AB4C8"/>
                </a:solidFill>
                <a:latin typeface="Noto Sans CJK SC"/>
              </a:defRPr>
            </a:pPr>
            <a:r>
              <a:t>前端编辑配置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79576" y="2240280"/>
            <a:ext cx="1481327" cy="0"/>
          </a:xfrm>
          <a:prstGeom prst="line">
            <a:avLst/>
          </a:prstGeom>
          <a:ln w="25400">
            <a:solidFill>
              <a:srgbClr val="20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2633472" y="2176272"/>
            <a:ext cx="137160" cy="128016"/>
          </a:xfrm>
          <a:prstGeom prst="triangle">
            <a:avLst/>
          </a:prstGeom>
          <a:solidFill>
            <a:srgbClr val="20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35224" y="2020824"/>
            <a:ext cx="438912" cy="438912"/>
          </a:xfrm>
          <a:prstGeom prst="ellipse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5224" y="2093976"/>
            <a:ext cx="43891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020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5496" y="2633472"/>
            <a:ext cx="14447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7F9FC"/>
                </a:solidFill>
                <a:latin typeface="Noto Sans CJK SC"/>
              </a:defRPr>
            </a:pPr>
            <a:r>
              <a:t>校验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5496" y="2971800"/>
            <a:ext cx="157276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AB4C8"/>
                </a:solidFill>
                <a:latin typeface="Noto Sans CJK SC"/>
              </a:defRPr>
            </a:pPr>
            <a:r>
              <a:t>schema / 兼容性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47288" y="2240280"/>
            <a:ext cx="1481328" cy="0"/>
          </a:xfrm>
          <a:prstGeom prst="line">
            <a:avLst/>
          </a:prstGeom>
          <a:ln w="25400">
            <a:solidFill>
              <a:srgbClr val="20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4901184" y="2176272"/>
            <a:ext cx="137160" cy="128016"/>
          </a:xfrm>
          <a:prstGeom prst="triangle">
            <a:avLst/>
          </a:prstGeom>
          <a:solidFill>
            <a:srgbClr val="20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02936" y="2020824"/>
            <a:ext cx="438912" cy="438912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02936" y="2093976"/>
            <a:ext cx="43891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020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3207" y="2633472"/>
            <a:ext cx="14447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7F9FC"/>
                </a:solidFill>
                <a:latin typeface="Noto Sans CJK SC"/>
              </a:defRPr>
            </a:pPr>
            <a:r>
              <a:t>预热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3207" y="2971800"/>
            <a:ext cx="157276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AB4C8"/>
                </a:solidFill>
                <a:latin typeface="Noto Sans CJK SC"/>
              </a:defRPr>
            </a:pPr>
            <a:r>
              <a:t>安装 + smoke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15000" y="2240280"/>
            <a:ext cx="1481327" cy="0"/>
          </a:xfrm>
          <a:prstGeom prst="line">
            <a:avLst/>
          </a:prstGeom>
          <a:ln w="25400">
            <a:solidFill>
              <a:srgbClr val="20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7168895" y="2176272"/>
            <a:ext cx="137160" cy="128016"/>
          </a:xfrm>
          <a:prstGeom prst="triangle">
            <a:avLst/>
          </a:prstGeom>
          <a:solidFill>
            <a:srgbClr val="20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70648" y="2020824"/>
            <a:ext cx="438912" cy="438912"/>
          </a:xfrm>
          <a:prstGeom prst="ellipse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0648" y="2093976"/>
            <a:ext cx="43891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020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633472"/>
            <a:ext cx="14447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7F9FC"/>
                </a:solidFill>
                <a:latin typeface="Noto Sans CJK SC"/>
              </a:defRPr>
            </a:pPr>
            <a:r>
              <a:t>激活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2971800"/>
            <a:ext cx="157276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AB4C8"/>
                </a:solidFill>
                <a:latin typeface="Noto Sans CJK SC"/>
              </a:defRPr>
            </a:pPr>
            <a:r>
              <a:t>原子更新路由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82712" y="2240280"/>
            <a:ext cx="1481328" cy="0"/>
          </a:xfrm>
          <a:prstGeom prst="line">
            <a:avLst/>
          </a:prstGeom>
          <a:ln w="25400">
            <a:solidFill>
              <a:srgbClr val="20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9436607" y="2176272"/>
            <a:ext cx="137160" cy="128016"/>
          </a:xfrm>
          <a:prstGeom prst="triangle">
            <a:avLst/>
          </a:prstGeom>
          <a:solidFill>
            <a:srgbClr val="20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738360" y="2020824"/>
            <a:ext cx="438912" cy="438912"/>
          </a:xfrm>
          <a:prstGeom prst="ellipse">
            <a:avLst/>
          </a:prstGeom>
          <a:solidFill>
            <a:srgbClr val="20B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2093976"/>
            <a:ext cx="43891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020"/>
                </a:solidFill>
                <a:latin typeface="Noto Sans CJK SC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8632" y="2633472"/>
            <a:ext cx="14447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7F9FC"/>
                </a:solidFill>
                <a:latin typeface="Noto Sans CJK SC"/>
              </a:defRPr>
            </a:pPr>
            <a:r>
              <a:t>观察 / 回滚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28632" y="2971800"/>
            <a:ext cx="157276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AB4C8"/>
                </a:solidFill>
                <a:latin typeface="Noto Sans CJK SC"/>
              </a:defRPr>
            </a:pPr>
            <a:r>
              <a:t>影子或灰度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2376" y="3685032"/>
            <a:ext cx="5285232" cy="1307592"/>
          </a:xfrm>
          <a:prstGeom prst="roundRect">
            <a:avLst/>
          </a:prstGeom>
          <a:solidFill>
            <a:srgbClr val="151B2F"/>
          </a:solidFill>
          <a:ln w="1270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96696" y="3913632"/>
            <a:ext cx="777240" cy="292608"/>
          </a:xfrm>
          <a:prstGeom prst="round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0704" y="3922776"/>
            <a:ext cx="649224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1020"/>
                </a:solidFill>
                <a:latin typeface="Noto Sans CJK SC"/>
              </a:defRPr>
            </a:pPr>
            <a:r>
              <a:t>旧任务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02536" y="3913632"/>
            <a:ext cx="1051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7F9FC"/>
                </a:solidFill>
                <a:latin typeface="Noto Sans CJK SC"/>
              </a:defRPr>
            </a:pPr>
            <a:r>
              <a:t>run-1007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93392" y="4297680"/>
            <a:ext cx="3429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AAB4C8"/>
                </a:solidFill>
                <a:latin typeface="Noto Sans CJK SC"/>
              </a:defRPr>
            </a:pPr>
            <a:r>
              <a:t>team-a@1.2.0 · config rev 41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6696" y="4663440"/>
            <a:ext cx="4626864" cy="73152"/>
          </a:xfrm>
          <a:prstGeom prst="round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45352" y="3685032"/>
            <a:ext cx="5285232" cy="1307592"/>
          </a:xfrm>
          <a:prstGeom prst="roundRect">
            <a:avLst/>
          </a:prstGeom>
          <a:solidFill>
            <a:srgbClr val="151B2F"/>
          </a:solidFill>
          <a:ln w="12700">
            <a:solidFill>
              <a:srgbClr val="27D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19672" y="3913632"/>
            <a:ext cx="777240" cy="292608"/>
          </a:xfrm>
          <a:prstGeom prst="roundRect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3922776"/>
            <a:ext cx="649224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1020"/>
                </a:solidFill>
                <a:latin typeface="Noto Sans CJK SC"/>
              </a:defRPr>
            </a:pPr>
            <a:r>
              <a:t>新任务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25512" y="3913632"/>
            <a:ext cx="1051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7F9FC"/>
                </a:solidFill>
                <a:latin typeface="Noto Sans CJK SC"/>
              </a:defRPr>
            </a:pPr>
            <a:r>
              <a:t>run-1008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16368" y="4297680"/>
            <a:ext cx="3429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AAB4C8"/>
                </a:solidFill>
                <a:latin typeface="Noto Sans CJK SC"/>
              </a:defRPr>
            </a:pPr>
            <a:r>
              <a:t>team-a@1.3.0 · config rev 42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19672" y="4663440"/>
            <a:ext cx="4626864" cy="73152"/>
          </a:xfrm>
          <a:prstGeom prst="roundRect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499616" y="5559552"/>
            <a:ext cx="9189720" cy="502920"/>
          </a:xfrm>
          <a:prstGeom prst="roundRect">
            <a:avLst/>
          </a:prstGeom>
          <a:solidFill>
            <a:srgbClr val="2B2134"/>
          </a:solidFill>
          <a:ln w="12700">
            <a:solidFill>
              <a:srgbClr val="EF6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728216" y="5687568"/>
            <a:ext cx="870508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C2C8"/>
                </a:solidFill>
                <a:latin typeface="Noto Sans CJK SC"/>
              </a:defRPr>
            </a:pPr>
            <a:r>
              <a:t>切换失败时只回滚 active revision 指针；不覆盖旧修订，不修改在途任务记录。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20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AAB4C8"/>
                </a:solidFill>
                <a:latin typeface="Noto Sans CJK SC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D3B2"/>
                </a:solidFill>
                <a:latin typeface="Noto Sans CJK SC"/>
              </a:defRPr>
            </a:pPr>
            <a:r>
              <a:t>10 / 前端与配置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11827"/>
                </a:solidFill>
                <a:latin typeface="Noto Sans CJK SC"/>
              </a:defRPr>
            </a:pPr>
            <a:r>
              <a:t>前端不是直接改 YAML，而是提交不可变的配置修订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B7280"/>
                </a:solidFill>
                <a:latin typeface="Noto Sans CJK SC"/>
              </a:defRPr>
            </a:pPr>
            <a:r>
              <a:t>配置修订 = 内核身份 + 参数 + 发布策略；后端完成校验、预热和激活。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82496"/>
            <a:ext cx="5641848" cy="4535424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920240"/>
            <a:ext cx="20116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11827"/>
                </a:solidFill>
                <a:latin typeface="Noto Sans CJK SC"/>
              </a:defRPr>
            </a:pPr>
            <a:r>
              <a:t>技能生产内核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423160"/>
            <a:ext cx="10515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B7280"/>
                </a:solidFill>
                <a:latin typeface="Noto Sans CJK SC"/>
              </a:defRPr>
            </a:pPr>
            <a:r>
              <a:t>内核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83664" y="2368296"/>
            <a:ext cx="3977639" cy="393192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48256" y="2441448"/>
            <a:ext cx="3648456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80" b="1">
                <a:solidFill>
                  <a:srgbClr val="111827"/>
                </a:solidFill>
                <a:latin typeface="Noto Sans CJK SC"/>
              </a:defRPr>
            </a:pPr>
            <a:r>
              <a:t>team-a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063240"/>
            <a:ext cx="10515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B7280"/>
                </a:solidFill>
                <a:latin typeface="Noto Sans CJK SC"/>
              </a:defRPr>
            </a:pPr>
            <a:r>
              <a:t>版本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83664" y="3008376"/>
            <a:ext cx="3977639" cy="393192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48256" y="3081528"/>
            <a:ext cx="3648456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80" b="1">
                <a:solidFill>
                  <a:srgbClr val="111827"/>
                </a:solidFill>
                <a:latin typeface="Noto Sans CJK SC"/>
              </a:defRPr>
            </a:pPr>
            <a:r>
              <a:t>1.3.0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703320"/>
            <a:ext cx="10515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B7280"/>
                </a:solidFill>
                <a:latin typeface="Noto Sans CJK SC"/>
              </a:defRPr>
            </a:pPr>
            <a:r>
              <a:t>配置修订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83664" y="3648456"/>
            <a:ext cx="3977639" cy="393192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48256" y="3721607"/>
            <a:ext cx="3648456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80" b="1">
                <a:solidFill>
                  <a:srgbClr val="111827"/>
                </a:solidFill>
                <a:latin typeface="Noto Sans CJK SC"/>
              </a:defRPr>
            </a:pPr>
            <a:r>
              <a:t>rev 42（草稿）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343400"/>
            <a:ext cx="10515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B7280"/>
                </a:solidFill>
                <a:latin typeface="Noto Sans CJK SC"/>
              </a:defRPr>
            </a:pPr>
            <a:r>
              <a:t>发布方式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83664" y="4288536"/>
            <a:ext cx="3977639" cy="393192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48256" y="4361688"/>
            <a:ext cx="3648456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80" b="1">
                <a:solidFill>
                  <a:srgbClr val="111827"/>
                </a:solidFill>
                <a:latin typeface="Noto Sans CJK SC"/>
              </a:defRPr>
            </a:pPr>
            <a:r>
              <a:t>Shadow → Canary 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5010912"/>
            <a:ext cx="3840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B7280"/>
                </a:solidFill>
                <a:latin typeface="Noto Sans CJK SC"/>
              </a:defRPr>
            </a:pPr>
            <a:r>
              <a:t>内核参数（由 config_schema 自动生成表单）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" y="5358384"/>
            <a:ext cx="4983480" cy="54864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5" y="5532120"/>
            <a:ext cx="464515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70" b="0">
                <a:solidFill>
                  <a:srgbClr val="27D3B2"/>
                </a:solidFill>
                <a:latin typeface="Noto Sans Mono CJK SC"/>
              </a:defRPr>
            </a:pPr>
            <a:r>
              <a:t>{"min_cluster_size": 3, "batch_size": 8}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45736" y="5971032"/>
            <a:ext cx="1124712" cy="292608"/>
          </a:xfrm>
          <a:prstGeom prst="roundRect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5980176"/>
            <a:ext cx="996695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1020"/>
                </a:solidFill>
                <a:latin typeface="Noto Sans CJK SC"/>
              </a:defRPr>
            </a:pPr>
            <a:r>
              <a:t>校验并保存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1810512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827"/>
                </a:solidFill>
                <a:latin typeface="Noto Sans CJK SC"/>
              </a:defRPr>
            </a:pPr>
            <a:r>
              <a:t>后端事务</a:t>
            </a:r>
          </a:p>
        </p:txBody>
      </p:sp>
      <p:sp>
        <p:nvSpPr>
          <p:cNvPr id="25" name="Oval 24"/>
          <p:cNvSpPr/>
          <p:nvPr/>
        </p:nvSpPr>
        <p:spPr>
          <a:xfrm>
            <a:off x="6620256" y="2313432"/>
            <a:ext cx="310896" cy="310896"/>
          </a:xfrm>
          <a:prstGeom prst="ellipse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0256" y="2322575"/>
            <a:ext cx="31089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1020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2304288"/>
            <a:ext cx="4050791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19" b="1">
                <a:solidFill>
                  <a:srgbClr val="111827"/>
                </a:solidFill>
                <a:latin typeface="Noto Sans Mono CJK SC"/>
              </a:defRPr>
            </a:pPr>
            <a:r>
              <a:t>POST /kernel-configs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2" y="2578608"/>
            <a:ext cx="40690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394150"/>
                </a:solidFill>
                <a:latin typeface="Noto Sans CJK SC"/>
              </a:defRPr>
            </a:pPr>
            <a:r>
              <a:t>生成 rev 42，状态 DRAFT</a:t>
            </a:r>
          </a:p>
        </p:txBody>
      </p:sp>
      <p:sp>
        <p:nvSpPr>
          <p:cNvPr id="29" name="Oval 28"/>
          <p:cNvSpPr/>
          <p:nvPr/>
        </p:nvSpPr>
        <p:spPr>
          <a:xfrm>
            <a:off x="6620256" y="3017520"/>
            <a:ext cx="310896" cy="310896"/>
          </a:xfrm>
          <a:prstGeom prst="ellipse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0256" y="3026663"/>
            <a:ext cx="31089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1020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4032" y="3008376"/>
            <a:ext cx="4050791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19" b="1">
                <a:solidFill>
                  <a:srgbClr val="111827"/>
                </a:solidFill>
                <a:latin typeface="Noto Sans Mono CJK SC"/>
              </a:defRPr>
            </a:pPr>
            <a:r>
              <a:t>POST /kernel-configs/42/validate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2" y="3282696"/>
            <a:ext cx="40690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394150"/>
                </a:solidFill>
                <a:latin typeface="Noto Sans CJK SC"/>
              </a:defRPr>
            </a:pPr>
            <a:r>
              <a:t>schema + SDK + capability</a:t>
            </a:r>
          </a:p>
        </p:txBody>
      </p:sp>
      <p:sp>
        <p:nvSpPr>
          <p:cNvPr id="33" name="Oval 32"/>
          <p:cNvSpPr/>
          <p:nvPr/>
        </p:nvSpPr>
        <p:spPr>
          <a:xfrm>
            <a:off x="6620256" y="3721608"/>
            <a:ext cx="310896" cy="310896"/>
          </a:xfrm>
          <a:prstGeom prst="ellipse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0256" y="3730752"/>
            <a:ext cx="31089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1020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4032" y="3712464"/>
            <a:ext cx="4050791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19" b="1">
                <a:solidFill>
                  <a:srgbClr val="111827"/>
                </a:solidFill>
                <a:latin typeface="Noto Sans Mono CJK SC"/>
              </a:defRPr>
            </a:pPr>
            <a:r>
              <a:t>POST /kernel-configs/42/prewarm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3986784"/>
            <a:ext cx="40690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394150"/>
                </a:solidFill>
                <a:latin typeface="Noto Sans CJK SC"/>
              </a:defRPr>
            </a:pPr>
            <a:r>
              <a:t>安装包、构造实例、smoke</a:t>
            </a:r>
          </a:p>
        </p:txBody>
      </p:sp>
      <p:sp>
        <p:nvSpPr>
          <p:cNvPr id="37" name="Oval 36"/>
          <p:cNvSpPr/>
          <p:nvPr/>
        </p:nvSpPr>
        <p:spPr>
          <a:xfrm>
            <a:off x="6620256" y="4425696"/>
            <a:ext cx="310896" cy="310896"/>
          </a:xfrm>
          <a:prstGeom prst="ellipse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0256" y="4434840"/>
            <a:ext cx="31089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1020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14032" y="4416552"/>
            <a:ext cx="4050791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19" b="1">
                <a:solidFill>
                  <a:srgbClr val="111827"/>
                </a:solidFill>
                <a:latin typeface="Noto Sans Mono CJK SC"/>
              </a:defRPr>
            </a:pPr>
            <a:r>
              <a:t>POST /kernel-configs/42/activate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14032" y="4690872"/>
            <a:ext cx="40690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394150"/>
                </a:solidFill>
                <a:latin typeface="Noto Sans CJK SC"/>
              </a:defRPr>
            </a:pPr>
            <a:r>
              <a:t>CAS 更新 active_revision</a:t>
            </a:r>
          </a:p>
        </p:txBody>
      </p:sp>
      <p:sp>
        <p:nvSpPr>
          <p:cNvPr id="41" name="Oval 40"/>
          <p:cNvSpPr/>
          <p:nvPr/>
        </p:nvSpPr>
        <p:spPr>
          <a:xfrm>
            <a:off x="6620256" y="5129783"/>
            <a:ext cx="310896" cy="310896"/>
          </a:xfrm>
          <a:prstGeom prst="ellipse">
            <a:avLst/>
          </a:prstGeom>
          <a:solidFill>
            <a:srgbClr val="EF6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0256" y="5138927"/>
            <a:ext cx="31089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1020"/>
                </a:solidFill>
                <a:latin typeface="Noto Sans CJK SC"/>
              </a:defRPr>
            </a:pPr>
            <a: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14032" y="5120640"/>
            <a:ext cx="4050791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19" b="1">
                <a:solidFill>
                  <a:srgbClr val="111827"/>
                </a:solidFill>
                <a:latin typeface="Noto Sans Mono CJK SC"/>
              </a:defRPr>
            </a:pPr>
            <a:r>
              <a:t>POST /kernel-configs/41/activate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14032" y="5394959"/>
            <a:ext cx="40690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394150"/>
                </a:solidFill>
                <a:latin typeface="Noto Sans CJK SC"/>
              </a:defRPr>
            </a:pPr>
            <a:r>
              <a:t>回滚仍是一次激活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11112" y="5897880"/>
            <a:ext cx="4882896" cy="329184"/>
          </a:xfrm>
          <a:prstGeom prst="roundRect">
            <a:avLst/>
          </a:prstGeom>
          <a:solidFill>
            <a:srgbClr val="FF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60" y="5961888"/>
            <a:ext cx="459028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80" b="1">
                <a:solidFill>
                  <a:srgbClr val="8A5A10"/>
                </a:solidFill>
                <a:latin typeface="Noto Sans CJK SC"/>
              </a:defRPr>
            </a:pPr>
            <a:r>
              <a:t>密钥只保存引用（secret_ref），不能进入算法配置正文。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6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280"/>
                </a:solidFill>
                <a:latin typeface="Noto Sans CJK SC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D3B2"/>
                </a:solidFill>
                <a:latin typeface="Noto Sans CJK SC"/>
              </a:defRPr>
            </a:pPr>
            <a:r>
              <a:t>11 / 评价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11827"/>
                </a:solidFill>
                <a:latin typeface="Noto Sans CJK SC"/>
              </a:defRPr>
            </a:pPr>
            <a:r>
              <a:t>评价必须与内核解耦：同题、同预算、同裁决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B7280"/>
                </a:solidFill>
                <a:latin typeface="Noto Sans CJK SC"/>
              </a:defRPr>
            </a:pPr>
            <a:r>
              <a:t>内核可以报告内部诊断；最终质量判断由 XSkill Evaluator 对标准产物执行。</a:t>
            </a:r>
          </a:p>
        </p:txBody>
      </p:sp>
      <p:sp>
        <p:nvSpPr>
          <p:cNvPr id="5" name="Chevron 4"/>
          <p:cNvSpPr/>
          <p:nvPr/>
        </p:nvSpPr>
        <p:spPr>
          <a:xfrm>
            <a:off x="621792" y="1847088"/>
            <a:ext cx="2505456" cy="941832"/>
          </a:xfrm>
          <a:prstGeom prst="chevron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048256"/>
            <a:ext cx="21305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020"/>
                </a:solidFill>
                <a:latin typeface="Noto Sans CJK SC"/>
              </a:defRPr>
            </a:pPr>
            <a:r>
              <a:t>合同门禁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59152"/>
            <a:ext cx="2066544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0B1020"/>
                </a:solidFill>
                <a:latin typeface="Noto Sans CJK SC"/>
              </a:defRPr>
            </a:pPr>
            <a:r>
              <a:t>schema / 文件安全 / lineage 完整</a:t>
            </a:r>
          </a:p>
        </p:txBody>
      </p:sp>
      <p:sp>
        <p:nvSpPr>
          <p:cNvPr id="8" name="Chevron 7"/>
          <p:cNvSpPr/>
          <p:nvPr/>
        </p:nvSpPr>
        <p:spPr>
          <a:xfrm>
            <a:off x="3410712" y="1847088"/>
            <a:ext cx="2395728" cy="941832"/>
          </a:xfrm>
          <a:prstGeom prst="chevron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7016" y="2048256"/>
            <a:ext cx="202082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020"/>
                </a:solidFill>
                <a:latin typeface="Noto Sans CJK SC"/>
              </a:defRPr>
            </a:pPr>
            <a:r>
              <a:t>离线基准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359152"/>
            <a:ext cx="1956816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0B1020"/>
                </a:solidFill>
                <a:latin typeface="Noto Sans CJK SC"/>
              </a:defRPr>
            </a:pPr>
            <a:r>
              <a:t>固定轨迹集 / 多次复跑 / 成本预算</a:t>
            </a:r>
          </a:p>
        </p:txBody>
      </p:sp>
      <p:sp>
        <p:nvSpPr>
          <p:cNvPr id="11" name="Chevron 10"/>
          <p:cNvSpPr/>
          <p:nvPr/>
        </p:nvSpPr>
        <p:spPr>
          <a:xfrm>
            <a:off x="6199631" y="1847088"/>
            <a:ext cx="2286000" cy="941832"/>
          </a:xfrm>
          <a:prstGeom prst="chevron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2048256"/>
            <a:ext cx="1911095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020"/>
                </a:solidFill>
                <a:latin typeface="Noto Sans CJK SC"/>
              </a:defRPr>
            </a:pPr>
            <a:r>
              <a:t>影子运行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359152"/>
            <a:ext cx="1847088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0B1020"/>
                </a:solidFill>
                <a:latin typeface="Noto Sans CJK SC"/>
              </a:defRPr>
            </a:pPr>
            <a:r>
              <a:t>同一输入双跑，不向用户下发</a:t>
            </a:r>
          </a:p>
        </p:txBody>
      </p:sp>
      <p:sp>
        <p:nvSpPr>
          <p:cNvPr id="14" name="Chevron 13"/>
          <p:cNvSpPr/>
          <p:nvPr/>
        </p:nvSpPr>
        <p:spPr>
          <a:xfrm>
            <a:off x="8988551" y="1847088"/>
            <a:ext cx="2176272" cy="941832"/>
          </a:xfrm>
          <a:prstGeom prst="chevron">
            <a:avLst/>
          </a:prstGeom>
          <a:solidFill>
            <a:srgbClr val="20B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34855" y="2048256"/>
            <a:ext cx="18013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020"/>
                </a:solidFill>
                <a:latin typeface="Noto Sans CJK SC"/>
              </a:defRPr>
            </a:pPr>
            <a:r>
              <a:t>线上灰度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1" y="2359152"/>
            <a:ext cx="173736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0B1020"/>
                </a:solidFill>
                <a:latin typeface="Noto Sans CJK SC"/>
              </a:defRPr>
            </a:pPr>
            <a:r>
              <a:t>真实反馈、最小样本、自动晋级 / 回滚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36976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11827"/>
                </a:solidFill>
                <a:latin typeface="Noto Sans CJK SC"/>
              </a:defRPr>
            </a:pPr>
            <a:r>
              <a:t>统一评分卡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" y="3675887"/>
            <a:ext cx="3493008" cy="758952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3813048"/>
            <a:ext cx="640080" cy="292608"/>
          </a:xfrm>
          <a:prstGeom prst="round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822191"/>
            <a:ext cx="512063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B1020"/>
                </a:solidFill>
                <a:latin typeface="Noto Sans CJK SC"/>
              </a:defRPr>
            </a:pPr>
            <a:r>
              <a:t>硬门禁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785615"/>
            <a:ext cx="13167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11827"/>
                </a:solidFill>
                <a:latin typeface="Noto Sans CJK SC"/>
              </a:defRPr>
            </a:pPr>
            <a:r>
              <a:t>产物有效率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059935"/>
            <a:ext cx="2340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30" b="0">
                <a:solidFill>
                  <a:srgbClr val="394150"/>
                </a:solidFill>
                <a:latin typeface="Noto Sans CJK SC"/>
              </a:defRPr>
            </a:pPr>
            <a:r>
              <a:t>Skill schema / 安全 / 可安装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8" y="3675887"/>
            <a:ext cx="3493008" cy="758952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53712" y="3813048"/>
            <a:ext cx="640080" cy="292608"/>
          </a:xfrm>
          <a:prstGeom prst="roundRect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822191"/>
            <a:ext cx="512063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B1020"/>
                </a:solidFill>
                <a:latin typeface="Noto Sans CJK SC"/>
              </a:defRPr>
            </a:pPr>
            <a:r>
              <a:t>质量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0952" y="3785615"/>
            <a:ext cx="13167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11827"/>
                </a:solidFill>
                <a:latin typeface="Noto Sans CJK SC"/>
              </a:defRPr>
            </a:pPr>
            <a:r>
              <a:t>任务覆盖率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0952" y="4059935"/>
            <a:ext cx="2340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30" b="0">
                <a:solidFill>
                  <a:srgbClr val="394150"/>
                </a:solidFill>
                <a:latin typeface="Noto Sans CJK SC"/>
              </a:defRPr>
            </a:pPr>
            <a:r>
              <a:t>多少可复用意图被正确提炼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3675887"/>
            <a:ext cx="3493008" cy="758952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30183" y="3813048"/>
            <a:ext cx="640080" cy="292608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2" y="3822191"/>
            <a:ext cx="512063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B1020"/>
                </a:solidFill>
                <a:latin typeface="Noto Sans CJK SC"/>
              </a:defRPr>
            </a:pPr>
            <a:r>
              <a:t>质量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07424" y="3785615"/>
            <a:ext cx="13167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11827"/>
                </a:solidFill>
                <a:latin typeface="Noto Sans CJK SC"/>
              </a:defRPr>
            </a:pPr>
            <a:r>
              <a:t>触发准确率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07424" y="4059935"/>
            <a:ext cx="2340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30" b="0">
                <a:solidFill>
                  <a:srgbClr val="394150"/>
                </a:solidFill>
                <a:latin typeface="Noto Sans CJK SC"/>
              </a:defRPr>
            </a:pPr>
            <a:r>
              <a:t>Precision / Recall / F1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" y="4617720"/>
            <a:ext cx="3493008" cy="758952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7240" y="4754880"/>
            <a:ext cx="640080" cy="292608"/>
          </a:xfrm>
          <a:prstGeom prst="round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" y="4764024"/>
            <a:ext cx="512063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B1020"/>
                </a:solidFill>
                <a:latin typeface="Noto Sans CJK SC"/>
              </a:defRPr>
            </a:pPr>
            <a:r>
              <a:t>质量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4727448"/>
            <a:ext cx="13167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11827"/>
                </a:solidFill>
                <a:latin typeface="Noto Sans CJK SC"/>
              </a:defRPr>
            </a:pPr>
            <a:r>
              <a:t>去重与稳定性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5001768"/>
            <a:ext cx="2340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30" b="0">
                <a:solidFill>
                  <a:srgbClr val="394150"/>
                </a:solidFill>
                <a:latin typeface="Noto Sans CJK SC"/>
              </a:defRPr>
            </a:pPr>
            <a:r>
              <a:t>近义 Skill 重复率 / 多次复跑一致性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07408" y="4617720"/>
            <a:ext cx="3493008" cy="758952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53712" y="4754880"/>
            <a:ext cx="640080" cy="292608"/>
          </a:xfrm>
          <a:prstGeom prst="roundRect">
            <a:avLst/>
          </a:prstGeom>
          <a:solidFill>
            <a:srgbClr val="20B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17720" y="4764024"/>
            <a:ext cx="512063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B1020"/>
                </a:solidFill>
                <a:latin typeface="Noto Sans CJK SC"/>
              </a:defRPr>
            </a:pPr>
            <a:r>
              <a:t>线上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30952" y="4727448"/>
            <a:ext cx="13167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11827"/>
                </a:solidFill>
                <a:latin typeface="Noto Sans CJK SC"/>
              </a:defRPr>
            </a:pPr>
            <a:r>
              <a:t>用户体验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30952" y="5001768"/>
            <a:ext cx="2340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30" b="0">
                <a:solidFill>
                  <a:srgbClr val="394150"/>
                </a:solidFill>
                <a:latin typeface="Noto Sans CJK SC"/>
              </a:defRPr>
            </a:pPr>
            <a:r>
              <a:t>真实 UX、使用后撤销 / 重做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83879" y="4617720"/>
            <a:ext cx="3493008" cy="758952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330183" y="4754880"/>
            <a:ext cx="640080" cy="292608"/>
          </a:xfrm>
          <a:prstGeom prst="roundRect">
            <a:avLst/>
          </a:prstGeom>
          <a:solidFill>
            <a:srgbClr val="EF6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94192" y="4764024"/>
            <a:ext cx="512063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B1020"/>
                </a:solidFill>
                <a:latin typeface="Noto Sans CJK SC"/>
              </a:defRPr>
            </a:pPr>
            <a:r>
              <a:t>效率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07424" y="4727448"/>
            <a:ext cx="13167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11827"/>
                </a:solidFill>
                <a:latin typeface="Noto Sans CJK SC"/>
              </a:defRPr>
            </a:pPr>
            <a:r>
              <a:t>成本与时延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07424" y="5001768"/>
            <a:ext cx="2340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30" b="0">
                <a:solidFill>
                  <a:srgbClr val="394150"/>
                </a:solidFill>
                <a:latin typeface="Noto Sans CJK SC"/>
              </a:defRPr>
            </a:pPr>
            <a:r>
              <a:t>每轨迹 Token、P95、失败率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" y="5742432"/>
            <a:ext cx="10972800" cy="438912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" y="5852160"/>
            <a:ext cx="1048816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7F9FC"/>
                </a:solidFill>
                <a:latin typeface="Noto Sans CJK SC"/>
              </a:defRPr>
            </a:pPr>
            <a:r>
              <a:t>裁决顺序：先过硬门禁 → 再比较质量 → 质量相近时选成本更低者；不能只看一个加权总分。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6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280"/>
                </a:solidFill>
                <a:latin typeface="Noto Sans CJK SC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D3B2"/>
                </a:solidFill>
                <a:latin typeface="Noto Sans CJK SC"/>
              </a:defRPr>
            </a:pPr>
            <a:r>
              <a:t>12 / 接入流程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11827"/>
                </a:solidFill>
                <a:latin typeface="Noto Sans CJK SC"/>
              </a:defRPr>
            </a:pPr>
            <a:r>
              <a:t>算法团队交付一个新内核，只需要 5 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B7280"/>
                </a:solidFill>
                <a:latin typeface="Noto Sans CJK SC"/>
              </a:defRPr>
            </a:pPr>
            <a:r>
              <a:t>下面从“已有算法包”出发，演示如何接入 XSkill，而不是要求算法团队重写业务逻辑。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938528"/>
            <a:ext cx="1965960" cy="2962656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2139696"/>
            <a:ext cx="658368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4DA3FF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2706624"/>
            <a:ext cx="1627632" cy="4572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3017520"/>
            <a:ext cx="164592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827"/>
                </a:solidFill>
                <a:latin typeface="Noto Sans CJK SC"/>
              </a:defRPr>
            </a:pPr>
            <a:r>
              <a:t>保留算法包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547872"/>
            <a:ext cx="1609344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394150"/>
                </a:solidFill>
                <a:latin typeface="Noto Sans CJK SC"/>
              </a:defRPr>
            </a:pPr>
            <a:r>
              <a:t>splitter / clusterer / writer 继续独立维护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06040" y="3374136"/>
            <a:ext cx="137160" cy="0"/>
          </a:xfrm>
          <a:prstGeom prst="line">
            <a:avLst/>
          </a:prstGeom>
          <a:ln w="2032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2715768" y="3310128"/>
            <a:ext cx="137160" cy="128016"/>
          </a:xfrm>
          <a:prstGeom prst="triangl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07792" y="1938528"/>
            <a:ext cx="1965960" cy="2962656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2139696"/>
            <a:ext cx="658368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7D3B2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72384" y="2706624"/>
            <a:ext cx="1627632" cy="45720"/>
          </a:xfrm>
          <a:prstGeom prst="rect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72384" y="3017520"/>
            <a:ext cx="164592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827"/>
                </a:solidFill>
                <a:latin typeface="Noto Sans CJK SC"/>
              </a:defRPr>
            </a:pPr>
            <a:r>
              <a:t>编写适配类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384" y="3547872"/>
            <a:ext cx="1609344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394150"/>
                </a:solidFill>
                <a:latin typeface="Noto Sans CJK SC"/>
              </a:defRPr>
            </a:pPr>
            <a:r>
              <a:t>继承 SkillGenerationKernel，实现 4 个入口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92040" y="3374136"/>
            <a:ext cx="137160" cy="0"/>
          </a:xfrm>
          <a:prstGeom prst="line">
            <a:avLst/>
          </a:prstGeom>
          <a:ln w="2032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5001768" y="3310128"/>
            <a:ext cx="137160" cy="128016"/>
          </a:xfrm>
          <a:prstGeom prst="triangl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93792" y="1938528"/>
            <a:ext cx="1965960" cy="2962656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58383" y="2139696"/>
            <a:ext cx="658368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7B61FF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58383" y="2706624"/>
            <a:ext cx="1627632" cy="4572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58383" y="3017520"/>
            <a:ext cx="164592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827"/>
                </a:solidFill>
                <a:latin typeface="Noto Sans CJK SC"/>
              </a:defRPr>
            </a:pPr>
            <a:r>
              <a:t>声明配置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3" y="3547872"/>
            <a:ext cx="1609344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394150"/>
                </a:solidFill>
                <a:latin typeface="Noto Sans CJK SC"/>
              </a:defRPr>
            </a:pPr>
            <a:r>
              <a:t>提供 config_schema、默认值与不兼容说明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78040" y="3374136"/>
            <a:ext cx="137160" cy="0"/>
          </a:xfrm>
          <a:prstGeom prst="line">
            <a:avLst/>
          </a:prstGeom>
          <a:ln w="2032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7287768" y="3310128"/>
            <a:ext cx="137160" cy="128016"/>
          </a:xfrm>
          <a:prstGeom prst="triangl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79792" y="1938528"/>
            <a:ext cx="1965960" cy="2962656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44383" y="2139696"/>
            <a:ext cx="658368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4B740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44383" y="2706624"/>
            <a:ext cx="1627632" cy="45720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44383" y="3017520"/>
            <a:ext cx="164592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827"/>
                </a:solidFill>
                <a:latin typeface="Noto Sans CJK SC"/>
              </a:defRPr>
            </a:pPr>
            <a:r>
              <a:t>注册与测试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44383" y="3547872"/>
            <a:ext cx="1609344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394150"/>
                </a:solidFill>
                <a:latin typeface="Noto Sans CJK SC"/>
              </a:defRPr>
            </a:pPr>
            <a:r>
              <a:t>entry point + 合同测试 + 固定样例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64040" y="3374136"/>
            <a:ext cx="137160" cy="0"/>
          </a:xfrm>
          <a:prstGeom prst="line">
            <a:avLst/>
          </a:prstGeom>
          <a:ln w="2032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9573767" y="3310128"/>
            <a:ext cx="137160" cy="128016"/>
          </a:xfrm>
          <a:prstGeom prst="triangl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765792" y="1938528"/>
            <a:ext cx="1965960" cy="2962656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30384" y="2139696"/>
            <a:ext cx="658368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0B978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30384" y="2706624"/>
            <a:ext cx="1627632" cy="45720"/>
          </a:xfrm>
          <a:prstGeom prst="rect">
            <a:avLst/>
          </a:prstGeom>
          <a:solidFill>
            <a:srgbClr val="20B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30384" y="3017520"/>
            <a:ext cx="164592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827"/>
                </a:solidFill>
                <a:latin typeface="Noto Sans CJK SC"/>
              </a:defRPr>
            </a:pPr>
            <a:r>
              <a:t>提交评测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30384" y="3547872"/>
            <a:ext cx="1609344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394150"/>
                </a:solidFill>
                <a:latin typeface="Noto Sans CJK SC"/>
              </a:defRPr>
            </a:pPr>
            <a:r>
              <a:t>离线 → Shadow → Canary，通过后激活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294376"/>
            <a:ext cx="5303520" cy="694944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C9D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5458968"/>
            <a:ext cx="1152144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DA3FF"/>
                </a:solidFill>
                <a:latin typeface="Noto Sans CJK SC"/>
              </a:defRPr>
            </a:pPr>
            <a:r>
              <a:t>算法团队负责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5468112"/>
            <a:ext cx="36027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394150"/>
                </a:solidFill>
                <a:latin typeface="Noto Sans CJK SC"/>
              </a:defRPr>
            </a:pPr>
            <a:r>
              <a:t>算法、配置 schema、合同测试、算法说明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36208" y="5294376"/>
            <a:ext cx="5358384" cy="694944"/>
          </a:xfrm>
          <a:prstGeom prst="roundRect">
            <a:avLst/>
          </a:prstGeom>
          <a:solidFill>
            <a:srgbClr val="ECFAF6"/>
          </a:solidFill>
          <a:ln w="12700">
            <a:solidFill>
              <a:srgbClr val="C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64808" y="5458968"/>
            <a:ext cx="1152144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F8F7B"/>
                </a:solidFill>
                <a:latin typeface="Noto Sans CJK SC"/>
              </a:defRPr>
            </a:pPr>
            <a:r>
              <a:t>平台团队负责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5468112"/>
            <a:ext cx="3611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394150"/>
                </a:solidFill>
                <a:latin typeface="Noto Sans CJK SC"/>
              </a:defRPr>
            </a:pPr>
            <a:r>
              <a:t>安装、路由、资源、评价、发布、回滚、下发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6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280"/>
                </a:solidFill>
                <a:latin typeface="Noto Sans CJK SC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D3B2"/>
                </a:solidFill>
                <a:latin typeface="Noto Sans CJK SC"/>
              </a:defRPr>
            </a:pPr>
            <a:r>
              <a:t>13 /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11827"/>
                </a:solidFill>
                <a:latin typeface="Noto Sans CJK SC"/>
              </a:defRPr>
            </a:pPr>
            <a:r>
              <a:t>Demo 项目：核心算法与 XSkill 适配层分开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B7280"/>
                </a:solidFill>
                <a:latin typeface="Noto Sans CJK SC"/>
              </a:defRPr>
            </a:pPr>
            <a:r>
              <a:t>PPT 同目录附带可运行代码：docs/ppt/xskill_kernel_demo。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682496"/>
            <a:ext cx="4645152" cy="44805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0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6968" y="1920240"/>
            <a:ext cx="1810512" cy="292608"/>
          </a:xfrm>
          <a:prstGeom prst="roundRect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929384"/>
            <a:ext cx="1682495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1020"/>
                </a:solidFill>
                <a:latin typeface="Noto Sans CJK SC"/>
              </a:defRPr>
            </a:pPr>
            <a:r>
              <a:t>xskill_kernel_demo/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14600"/>
            <a:ext cx="3950208" cy="2606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DCE6F5"/>
                </a:solidFill>
                <a:latin typeface="Noto Sans Mono CJK SC"/>
              </a:defRPr>
            </a:pPr>
            <a:r>
              <a:t>├── xskill_kernel_sdk.py     # 稳定接口（演示版）</a:t>
            </a:r>
            <a:br/>
            <a:r>
              <a:t>├── config.yaml              # 选择内核 + 修订</a:t>
            </a:r>
            <a:br/>
            <a:r>
              <a:t>├── pyproject.toml           # entry point</a:t>
            </a:r>
            <a:br/>
            <a:r>
              <a:t>├── run_demo.py              # 本地宿主</a:t>
            </a:r>
            <a:br/>
            <a:r>
              <a:t>└── demo_skillgen/</a:t>
            </a:r>
            <a:br/>
            <a:r>
              <a:t>    ├── algo_core.py         # 算法团队已有包</a:t>
            </a:r>
            <a:br/>
            <a:r>
              <a:t>    └── kernel.py            # 薄适配层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" y="5458968"/>
            <a:ext cx="4059936" cy="411480"/>
          </a:xfrm>
          <a:prstGeom prst="roundRect">
            <a:avLst/>
          </a:prstGeom>
          <a:solidFill>
            <a:srgbClr val="202A46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5559552"/>
            <a:ext cx="3712463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7D3B2"/>
                </a:solidFill>
                <a:latin typeface="Noto Sans Mono CJK SC"/>
              </a:defRPr>
            </a:pPr>
            <a:r>
              <a:t>运行：python3.11 run_demo.py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14416" y="1819656"/>
            <a:ext cx="221284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827"/>
                </a:solidFill>
                <a:latin typeface="Noto Sans CJK SC"/>
              </a:defRPr>
            </a:pPr>
            <a:r>
              <a:t>一次调用发生什么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14416" y="2331720"/>
            <a:ext cx="5422392" cy="603504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14416" y="2331720"/>
            <a:ext cx="82296" cy="603504"/>
          </a:xfrm>
          <a:prstGeom prst="round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16168" y="2487168"/>
            <a:ext cx="12618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DA3FF"/>
                </a:solidFill>
                <a:latin typeface="Noto Sans CJK SC"/>
              </a:defRPr>
            </a:pPr>
            <a:r>
              <a:t>标准请求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2904" y="2487168"/>
            <a:ext cx="344728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111827"/>
                </a:solidFill>
                <a:latin typeface="Noto Sans Mono CJK SC"/>
              </a:defRPr>
            </a:pPr>
            <a:r>
              <a:t>KernelRunRequest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8229600" y="2962656"/>
            <a:ext cx="91440" cy="201168"/>
          </a:xfrm>
          <a:prstGeom prst="line">
            <a:avLst/>
          </a:prstGeom>
          <a:ln w="2032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8202167" y="3099816"/>
            <a:ext cx="137160" cy="128016"/>
          </a:xfrm>
          <a:prstGeom prst="triangl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14416" y="3209544"/>
            <a:ext cx="5422392" cy="603504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14416" y="3209544"/>
            <a:ext cx="82296" cy="603504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16168" y="3364991"/>
            <a:ext cx="12618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B61FF"/>
                </a:solidFill>
                <a:latin typeface="Noto Sans CJK SC"/>
              </a:defRPr>
            </a:pPr>
            <a:r>
              <a:t>适配层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3364991"/>
            <a:ext cx="344728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111827"/>
                </a:solidFill>
                <a:latin typeface="Noto Sans Mono CJK SC"/>
              </a:defRPr>
            </a:pPr>
            <a:r>
              <a:t>DemoAtomTaskKernel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8229600" y="3840479"/>
            <a:ext cx="91440" cy="201169"/>
          </a:xfrm>
          <a:prstGeom prst="line">
            <a:avLst/>
          </a:prstGeom>
          <a:ln w="2032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8202167" y="3977639"/>
            <a:ext cx="137160" cy="128016"/>
          </a:xfrm>
          <a:prstGeom prst="triangl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14416" y="4087368"/>
            <a:ext cx="5422392" cy="603504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14416" y="4087368"/>
            <a:ext cx="82296" cy="603504"/>
          </a:xfrm>
          <a:prstGeom prst="round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16168" y="4242816"/>
            <a:ext cx="12618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4B740"/>
                </a:solidFill>
                <a:latin typeface="Noto Sans CJK SC"/>
              </a:defRPr>
            </a:pPr>
            <a:r>
              <a:t>算法包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2904" y="4242816"/>
            <a:ext cx="344728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111827"/>
                </a:solidFill>
                <a:latin typeface="Noto Sans CJK SC"/>
              </a:defRPr>
            </a:pPr>
            <a:r>
              <a:t>Splitter → Clusterer → Writer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8229600" y="4718304"/>
            <a:ext cx="91440" cy="201168"/>
          </a:xfrm>
          <a:prstGeom prst="line">
            <a:avLst/>
          </a:prstGeom>
          <a:ln w="2032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8202167" y="4855464"/>
            <a:ext cx="137160" cy="128016"/>
          </a:xfrm>
          <a:prstGeom prst="triangl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14416" y="4965192"/>
            <a:ext cx="5422392" cy="603504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14416" y="4965192"/>
            <a:ext cx="82296" cy="603504"/>
          </a:xfrm>
          <a:prstGeom prst="roundRect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16168" y="5120640"/>
            <a:ext cx="12618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7D3B2"/>
                </a:solidFill>
                <a:latin typeface="Noto Sans CJK SC"/>
              </a:defRPr>
            </a:pPr>
            <a:r>
              <a:t>标准结果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32904" y="5120640"/>
            <a:ext cx="344728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111827"/>
                </a:solidFill>
                <a:latin typeface="Noto Sans Mono CJK SC"/>
              </a:defRPr>
            </a:pPr>
            <a:r>
              <a:t>KernelRunResult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14416" y="5907024"/>
            <a:ext cx="5422392" cy="265176"/>
          </a:xfrm>
          <a:prstGeom prst="roundRect">
            <a:avLst/>
          </a:prstGeom>
          <a:solidFill>
            <a:srgbClr val="E8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97296" y="5934456"/>
            <a:ext cx="506577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80" b="1">
                <a:solidFill>
                  <a:srgbClr val="0F8F7B"/>
                </a:solidFill>
                <a:latin typeface="Noto Sans CJK SC"/>
              </a:defRPr>
            </a:pPr>
            <a:r>
              <a:t>算法包完全不知道上传、用户统计、Skill 下发在哪里。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6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280"/>
                </a:solidFill>
                <a:latin typeface="Noto Sans CJK SC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D3B2"/>
                </a:solidFill>
                <a:latin typeface="Noto Sans CJK SC"/>
              </a:defRPr>
            </a:pPr>
            <a:r>
              <a:t>14 / DEMO 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7F9FC"/>
                </a:solidFill>
                <a:latin typeface="Noto Sans CJK SC"/>
              </a:defRPr>
            </a:pPr>
            <a:r>
              <a:t>算法内核怎么写：继承基类，再调用自己的算法包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AAB4C8"/>
                </a:solidFill>
                <a:latin typeface="Noto Sans CJK SC"/>
              </a:defRPr>
            </a:pPr>
            <a:r>
              <a:t>kernel.py 只做协议适配，不把算法逻辑搬进 XSkill。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673352"/>
            <a:ext cx="5495544" cy="4544568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0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" y="1673352"/>
            <a:ext cx="5495544" cy="274320"/>
          </a:xfrm>
          <a:prstGeom prst="roundRect">
            <a:avLst/>
          </a:prstGeom>
          <a:solidFill>
            <a:srgbClr val="15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8096" y="1773936"/>
            <a:ext cx="73152" cy="73152"/>
          </a:xfrm>
          <a:prstGeom prst="ellipse">
            <a:avLst/>
          </a:prstGeom>
          <a:solidFill>
            <a:srgbClr val="EF6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0976" y="1773936"/>
            <a:ext cx="73152" cy="73152"/>
          </a:xfrm>
          <a:prstGeom prst="ellipse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3856" y="1773936"/>
            <a:ext cx="73152" cy="73152"/>
          </a:xfrm>
          <a:prstGeom prst="ellipse">
            <a:avLst/>
          </a:prstGeom>
          <a:solidFill>
            <a:srgbClr val="20B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0744" y="1709928"/>
            <a:ext cx="456285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AB4C8"/>
                </a:solidFill>
                <a:latin typeface="Noto Sans CJK SC"/>
              </a:defRPr>
            </a:pPr>
            <a:r>
              <a:t>demo_skillgen/kernel.py · 1/2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048256"/>
            <a:ext cx="5166359" cy="40690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DCE6F5"/>
                </a:solidFill>
                <a:latin typeface="Noto Sans Mono CJK SC"/>
              </a:defRPr>
            </a:pPr>
            <a:r>
              <a:t>class DemoAtomTaskKernel(SkillGenerationKernel):</a:t>
            </a:r>
            <a:br/>
            <a:r>
              <a:t>    def __init__(self, config):</a:t>
            </a:r>
            <a:br/>
            <a:r>
              <a:t>        self.config = dict(config)</a:t>
            </a:r>
            <a:br/>
            <a:r>
              <a:t>        self.splitter = SimpleSplitter()</a:t>
            </a:r>
            <a:br/>
            <a:r>
              <a:t>        self.clusterer = KeywordClusterer()</a:t>
            </a:r>
            <a:br/>
            <a:r>
              <a:t>        self.writer = MarkdownSkillWriter()</a:t>
            </a:r>
            <a:br/>
            <a:br/>
            <a:r>
              <a:t>    @classmethod</a:t>
            </a:r>
            <a:br/>
            <a:r>
              <a:t>    def manifest(cls):</a:t>
            </a:r>
            <a:br/>
            <a:r>
              <a:t>        return KernelManifest(</a:t>
            </a:r>
            <a:br/>
            <a:r>
              <a:t>            name="demo-atomtask",</a:t>
            </a:r>
            <a:br/>
            <a:r>
              <a:t>            version="1.0.0",</a:t>
            </a:r>
            <a:br/>
            <a:r>
              <a:t>            capabilities=("batch", "lineage"),</a:t>
            </a:r>
            <a:br/>
            <a:r>
              <a:t>        )</a:t>
            </a:r>
            <a:br/>
            <a:br/>
            <a:r>
              <a:t>    @classmethod</a:t>
            </a:r>
            <a:br/>
            <a:r>
              <a:t>    def config_schema(cls):</a:t>
            </a:r>
            <a:br/>
            <a:r>
              <a:t>        return DEMO_CONFIG_SCHEMA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1673352"/>
            <a:ext cx="5239512" cy="4544568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0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45936" y="1673352"/>
            <a:ext cx="5239512" cy="274320"/>
          </a:xfrm>
          <a:prstGeom prst="roundRect">
            <a:avLst/>
          </a:prstGeom>
          <a:solidFill>
            <a:srgbClr val="15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0528" y="1773936"/>
            <a:ext cx="73152" cy="73152"/>
          </a:xfrm>
          <a:prstGeom prst="ellipse">
            <a:avLst/>
          </a:prstGeom>
          <a:solidFill>
            <a:srgbClr val="EF6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93408" y="1773936"/>
            <a:ext cx="73152" cy="73152"/>
          </a:xfrm>
          <a:prstGeom prst="ellipse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76288" y="1773936"/>
            <a:ext cx="73152" cy="73152"/>
          </a:xfrm>
          <a:prstGeom prst="ellipse">
            <a:avLst/>
          </a:prstGeom>
          <a:solidFill>
            <a:srgbClr val="20B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23176" y="1709928"/>
            <a:ext cx="430682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AB4C8"/>
                </a:solidFill>
                <a:latin typeface="Noto Sans CJK SC"/>
              </a:defRPr>
            </a:pPr>
            <a:r>
              <a:t>demo_skillgen/kernel.py · 2/2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048256"/>
            <a:ext cx="4910328" cy="40690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DCE6F5"/>
                </a:solidFill>
                <a:latin typeface="Noto Sans Mono CJK SC"/>
              </a:defRPr>
            </a:pPr>
            <a:r>
              <a:t>def run(self, request, services):</a:t>
            </a:r>
            <a:br/>
            <a:r>
              <a:t>    atoms = []</a:t>
            </a:r>
            <a:br/>
            <a:r>
              <a:t>    for traj in request.trajectories:</a:t>
            </a:r>
            <a:br/>
            <a:r>
              <a:t>        text = services.read_text(traj.path)</a:t>
            </a:r>
            <a:br/>
            <a:r>
              <a:t>        atoms += self.splitter.split(</a:t>
            </a:r>
            <a:br/>
            <a:r>
              <a:t>            traj.trajectory_id, text</a:t>
            </a:r>
            <a:br/>
            <a:r>
              <a:t>        )</a:t>
            </a:r>
            <a:br/>
            <a:br/>
            <a:r>
              <a:t>    groups = self.clusterer.cluster(</a:t>
            </a:r>
            <a:br/>
            <a:r>
              <a:t>        atoms,</a:t>
            </a:r>
            <a:br/>
            <a:r>
              <a:t>        min_cluster_size=</a:t>
            </a:r>
            <a:br/>
            <a:r>
              <a:t>            self.config["min_cluster_size"],</a:t>
            </a:r>
            <a:br/>
            <a:r>
              <a:t>    )</a:t>
            </a:r>
            <a:br/>
            <a:r>
              <a:t>    artifacts = [</a:t>
            </a:r>
            <a:br/>
            <a:r>
              <a:t>        SkillArtifact(</a:t>
            </a:r>
            <a:br/>
            <a:r>
              <a:t>            name=name,</a:t>
            </a:r>
            <a:br/>
            <a:r>
              <a:t>            content=self.writer.write(name, members),</a:t>
            </a:r>
            <a:br/>
            <a:r>
              <a:t>            source_trajectory_ids=source_ids(members),</a:t>
            </a:r>
            <a:br/>
            <a:r>
              <a:t>        )</a:t>
            </a:r>
            <a:br/>
            <a:r>
              <a:t>        for name, members in groups.items()</a:t>
            </a:r>
            <a:br/>
            <a:r>
              <a:t>    ]</a:t>
            </a:r>
            <a:br/>
            <a:r>
              <a:t>    return KernelRunResult(</a:t>
            </a:r>
            <a:br/>
            <a:r>
              <a:t>        artifacts=artifacts,</a:t>
            </a:r>
            <a:br/>
            <a:r>
              <a:t>        metrics={"atom_count": len(atoms)},</a:t>
            </a:r>
            <a:br/>
            <a:r>
              <a:t>        lineage=build_lineage(artifacts),</a:t>
            </a:r>
            <a:br/>
            <a:r>
              <a:t>    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91056" y="5806440"/>
            <a:ext cx="9006840" cy="384048"/>
          </a:xfrm>
          <a:prstGeom prst="roundRect">
            <a:avLst/>
          </a:prstGeom>
          <a:solidFill>
            <a:srgbClr val="202A46"/>
          </a:solidFill>
          <a:ln w="12700">
            <a:solidFill>
              <a:srgbClr val="27D3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47088" y="5897880"/>
            <a:ext cx="84856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7F9FC"/>
                </a:solidFill>
                <a:latin typeface="Noto Sans CJK SC"/>
              </a:defRPr>
            </a:pPr>
            <a:r>
              <a:t>注意：调用模型、读取轨迹、写临时产物都走 services；不要 import xskill.pipeline.runner。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20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AAB4C8"/>
                </a:solidFill>
                <a:latin typeface="Noto Sans CJK SC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D3B2"/>
                </a:solidFill>
                <a:latin typeface="Noto Sans CJK SC"/>
              </a:defRPr>
            </a:pPr>
            <a:r>
              <a:t>15 / DEMO 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11827"/>
                </a:solidFill>
                <a:latin typeface="Noto Sans CJK SC"/>
              </a:defRPr>
            </a:pPr>
            <a:r>
              <a:t>配置决定选谁，包元数据决定怎么找到它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B7280"/>
                </a:solidFill>
                <a:latin typeface="Noto Sans CJK SC"/>
              </a:defRPr>
            </a:pPr>
            <a:r>
              <a:t>开发时用 class_path；生产时用 package + version + entry point。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82496"/>
            <a:ext cx="5276088" cy="3282696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0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82496"/>
            <a:ext cx="5276088" cy="274320"/>
          </a:xfrm>
          <a:prstGeom prst="roundRect">
            <a:avLst/>
          </a:prstGeom>
          <a:solidFill>
            <a:srgbClr val="15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8952" y="1783080"/>
            <a:ext cx="73152" cy="73152"/>
          </a:xfrm>
          <a:prstGeom prst="ellipse">
            <a:avLst/>
          </a:prstGeom>
          <a:solidFill>
            <a:srgbClr val="EF6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" y="1783080"/>
            <a:ext cx="73152" cy="73152"/>
          </a:xfrm>
          <a:prstGeom prst="ellipse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783080"/>
            <a:ext cx="73152" cy="73152"/>
          </a:xfrm>
          <a:prstGeom prst="ellipse">
            <a:avLst/>
          </a:prstGeom>
          <a:solidFill>
            <a:srgbClr val="20B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719072"/>
            <a:ext cx="4343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AB4C8"/>
                </a:solidFill>
                <a:latin typeface="Noto Sans CJK SC"/>
              </a:defRPr>
            </a:pPr>
            <a:r>
              <a:t>config.yaml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57400"/>
            <a:ext cx="4946903" cy="28072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DCE6F5"/>
                </a:solidFill>
                <a:latin typeface="Noto Sans Mono CJK SC"/>
              </a:defRPr>
            </a:pPr>
            <a:r>
              <a:t>skill_generation:</a:t>
            </a:r>
            <a:br/>
            <a:r>
              <a:t>  active:</a:t>
            </a:r>
            <a:br/>
            <a:r>
              <a:t>    class_path: demo_skillgen.kernel:DemoAtomTaskKernel</a:t>
            </a:r>
            <a:br/>
            <a:r>
              <a:t>    package: xskill-kernel-demo-atomtask</a:t>
            </a:r>
            <a:br/>
            <a:r>
              <a:t>    version: 1.0.0</a:t>
            </a:r>
            <a:br/>
            <a:r>
              <a:t>  config_revision: 42</a:t>
            </a:r>
            <a:br/>
            <a:r>
              <a:t>  config:</a:t>
            </a:r>
            <a:br/>
            <a:r>
              <a:t>    min_cluster_size: 1</a:t>
            </a:r>
            <a:br/>
            <a:r>
              <a:t>  rollout:</a:t>
            </a:r>
            <a:br/>
            <a:r>
              <a:t>    mode: shadow</a:t>
            </a:r>
            <a:br/>
            <a:r>
              <a:t>    shadow_kernel: builtin-atomtask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682496"/>
            <a:ext cx="5440680" cy="2002536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0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53912" y="1682496"/>
            <a:ext cx="5440680" cy="274320"/>
          </a:xfrm>
          <a:prstGeom prst="roundRect">
            <a:avLst/>
          </a:prstGeom>
          <a:solidFill>
            <a:srgbClr val="15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18504" y="1783080"/>
            <a:ext cx="73152" cy="73152"/>
          </a:xfrm>
          <a:prstGeom prst="ellipse">
            <a:avLst/>
          </a:prstGeom>
          <a:solidFill>
            <a:srgbClr val="EF6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01384" y="1783080"/>
            <a:ext cx="73152" cy="73152"/>
          </a:xfrm>
          <a:prstGeom prst="ellipse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84264" y="1783080"/>
            <a:ext cx="73152" cy="73152"/>
          </a:xfrm>
          <a:prstGeom prst="ellipse">
            <a:avLst/>
          </a:prstGeom>
          <a:solidFill>
            <a:srgbClr val="20B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31152" y="1719072"/>
            <a:ext cx="45079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AB4C8"/>
                </a:solidFill>
                <a:latin typeface="Noto Sans CJK SC"/>
              </a:defRPr>
            </a:pPr>
            <a:r>
              <a:t>pyproject.toml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057400"/>
            <a:ext cx="5111496" cy="1527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defRPr sz="1040" b="0">
                <a:solidFill>
                  <a:srgbClr val="DCE6F5"/>
                </a:solidFill>
                <a:latin typeface="Noto Sans Mono CJK SC"/>
              </a:defRPr>
            </a:pPr>
            <a:r>
              <a:t>[project]</a:t>
            </a:r>
            <a:br/>
            <a:r>
              <a:t>name = "xskill-kernel-demo-atomtask"</a:t>
            </a:r>
            <a:br/>
            <a:r>
              <a:t>version = "1.0.0"</a:t>
            </a:r>
            <a:br/>
            <a:br/>
            <a:r>
              <a:t>[project.entry-points."xskill.skillgen_kernels"]</a:t>
            </a:r>
            <a:br/>
            <a:r>
              <a:t>demo-atomtask =</a:t>
            </a:r>
            <a:br/>
            <a:r>
              <a:t>  "demo_skillgen.kernel:DemoAtomTaskKernel"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3931920"/>
            <a:ext cx="5440680" cy="2093976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0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53912" y="3931920"/>
            <a:ext cx="5440680" cy="274320"/>
          </a:xfrm>
          <a:prstGeom prst="roundRect">
            <a:avLst/>
          </a:prstGeom>
          <a:solidFill>
            <a:srgbClr val="15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18504" y="4032504"/>
            <a:ext cx="73152" cy="73152"/>
          </a:xfrm>
          <a:prstGeom prst="ellipse">
            <a:avLst/>
          </a:prstGeom>
          <a:solidFill>
            <a:srgbClr val="EF6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01384" y="4032504"/>
            <a:ext cx="73152" cy="73152"/>
          </a:xfrm>
          <a:prstGeom prst="ellipse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84264" y="4032504"/>
            <a:ext cx="73152" cy="73152"/>
          </a:xfrm>
          <a:prstGeom prst="ellipse">
            <a:avLst/>
          </a:prstGeom>
          <a:solidFill>
            <a:srgbClr val="20B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1152" y="3968496"/>
            <a:ext cx="450799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AB4C8"/>
                </a:solidFill>
                <a:latin typeface="Noto Sans CJK SC"/>
              </a:defRPr>
            </a:pPr>
            <a:r>
              <a:t>smoke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4306824"/>
            <a:ext cx="5111496" cy="1618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defRPr sz="1040" b="0">
                <a:solidFill>
                  <a:srgbClr val="DCE6F5"/>
                </a:solidFill>
                <a:latin typeface="Noto Sans Mono CJK SC"/>
              </a:defRPr>
            </a:pPr>
            <a:r>
              <a:t>$ python3.11 run_demo.py</a:t>
            </a:r>
            <a:br/>
            <a:r>
              <a:t>manifest: demo-atomtask@1.0.0</a:t>
            </a:r>
            <a:br/>
            <a:r>
              <a:t>events: atoms.ready count=2</a:t>
            </a:r>
            <a:br/>
            <a:r>
              <a:t>metrics: atom_count=2, skill_count=1</a:t>
            </a:r>
            <a:br/>
            <a:r>
              <a:t>skills: ['修复']</a:t>
            </a:r>
            <a:br/>
            <a:r>
              <a:t>lineage: {'修复': ['traj-demo']}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276088"/>
            <a:ext cx="5276088" cy="74980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" y="5440680"/>
            <a:ext cx="125272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7B61FF"/>
                </a:solidFill>
                <a:latin typeface="Noto Sans CJK SC"/>
              </a:defRPr>
            </a:pPr>
            <a:r>
              <a:t>切换到新算法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48256" y="5449824"/>
            <a:ext cx="34655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394150"/>
                </a:solidFill>
                <a:latin typeface="Noto Sans CJK SC"/>
              </a:defRPr>
            </a:pPr>
            <a:r>
              <a:t>只新增一个配置修订；旧配置仍保留，可重放、可回滚。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6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280"/>
                </a:solidFill>
                <a:latin typeface="Noto Sans CJK SC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D3B2"/>
                </a:solidFill>
                <a:latin typeface="Noto Sans CJK SC"/>
              </a:defRPr>
            </a:pPr>
            <a:r>
              <a:t>16 / 端到端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11827"/>
                </a:solidFill>
                <a:latin typeface="Noto Sans CJK SC"/>
              </a:defRPr>
            </a:pPr>
            <a:r>
              <a:t>从前端切换到 Skill 下发：一条可审计的链路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B7280"/>
                </a:solidFill>
                <a:latin typeface="Noto Sans CJK SC"/>
              </a:defRPr>
            </a:pPr>
            <a:r>
              <a:t>每个关键动作都有状态、有版本、有回滚点。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682496"/>
            <a:ext cx="1581912" cy="420624"/>
          </a:xfrm>
          <a:prstGeom prst="round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792224"/>
            <a:ext cx="14721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B1020"/>
                </a:solidFill>
                <a:latin typeface="Noto Sans CJK SC"/>
              </a:defRPr>
            </a:pPr>
            <a:r>
              <a:t>前端 / API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66444" y="2148840"/>
            <a:ext cx="0" cy="3822192"/>
          </a:xfrm>
          <a:prstGeom prst="line">
            <a:avLst/>
          </a:prstGeom>
          <a:ln w="10160">
            <a:solidFill>
              <a:srgbClr val="D6DEE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50008" y="1682496"/>
            <a:ext cx="1581912" cy="420624"/>
          </a:xfrm>
          <a:prstGeom prst="roundRect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04872" y="1792224"/>
            <a:ext cx="14721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B1020"/>
                </a:solidFill>
                <a:latin typeface="Noto Sans CJK SC"/>
              </a:defRPr>
            </a:pPr>
            <a:r>
              <a:t>Config Service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40963" y="2148840"/>
            <a:ext cx="0" cy="3822192"/>
          </a:xfrm>
          <a:prstGeom prst="line">
            <a:avLst/>
          </a:prstGeom>
          <a:ln w="10160">
            <a:solidFill>
              <a:srgbClr val="D6DEE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24528" y="1682496"/>
            <a:ext cx="1581912" cy="420624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9392" y="1792224"/>
            <a:ext cx="14721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B1020"/>
                </a:solidFill>
                <a:latin typeface="Noto Sans CJK SC"/>
              </a:defRPr>
            </a:pPr>
            <a:r>
              <a:t>Runtime Manager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15484" y="2148840"/>
            <a:ext cx="0" cy="3822192"/>
          </a:xfrm>
          <a:prstGeom prst="line">
            <a:avLst/>
          </a:prstGeom>
          <a:ln w="10160">
            <a:solidFill>
              <a:srgbClr val="D6DEE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99048" y="1682496"/>
            <a:ext cx="1581912" cy="420624"/>
          </a:xfrm>
          <a:prstGeom prst="round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3912" y="1792224"/>
            <a:ext cx="14721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B1020"/>
                </a:solidFill>
                <a:latin typeface="Noto Sans CJK SC"/>
              </a:defRPr>
            </a:pPr>
            <a:r>
              <a:t>Kernel Worker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90004" y="2148840"/>
            <a:ext cx="0" cy="3822192"/>
          </a:xfrm>
          <a:prstGeom prst="line">
            <a:avLst/>
          </a:prstGeom>
          <a:ln w="10160">
            <a:solidFill>
              <a:srgbClr val="D6DEE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973568" y="1682496"/>
            <a:ext cx="1581912" cy="420624"/>
          </a:xfrm>
          <a:prstGeom prst="roundRect">
            <a:avLst/>
          </a:prstGeom>
          <a:solidFill>
            <a:srgbClr val="20B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2" y="1792224"/>
            <a:ext cx="14721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B1020"/>
                </a:solidFill>
                <a:latin typeface="Noto Sans CJK SC"/>
              </a:defRPr>
            </a:pPr>
            <a:r>
              <a:t>Evaluator / Repo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64524" y="2148840"/>
            <a:ext cx="0" cy="3822192"/>
          </a:xfrm>
          <a:prstGeom prst="line">
            <a:avLst/>
          </a:prstGeom>
          <a:ln w="10160">
            <a:solidFill>
              <a:srgbClr val="D6DEE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848088" y="1682496"/>
            <a:ext cx="1581912" cy="420624"/>
          </a:xfrm>
          <a:prstGeom prst="roundRect">
            <a:avLst/>
          </a:prstGeom>
          <a:solidFill>
            <a:srgbClr val="EF6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02952" y="1792224"/>
            <a:ext cx="14721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B1020"/>
                </a:solidFill>
                <a:latin typeface="Noto Sans CJK SC"/>
              </a:defRPr>
            </a:pPr>
            <a:r>
              <a:t>Distributor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639044" y="2148840"/>
            <a:ext cx="0" cy="3822192"/>
          </a:xfrm>
          <a:prstGeom prst="line">
            <a:avLst/>
          </a:prstGeom>
          <a:ln w="10160">
            <a:solidFill>
              <a:srgbClr val="D6DEE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66444" y="2359152"/>
            <a:ext cx="1783079" cy="0"/>
          </a:xfrm>
          <a:prstGeom prst="line">
            <a:avLst/>
          </a:prstGeom>
          <a:ln w="21590">
            <a:solidFill>
              <a:srgbClr val="4D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3022091" y="2295144"/>
            <a:ext cx="137160" cy="128016"/>
          </a:xfrm>
          <a:prstGeom prst="triangl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57884" y="2176272"/>
            <a:ext cx="1673351" cy="2743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4460" y="2212848"/>
            <a:ext cx="160019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60" b="1">
                <a:solidFill>
                  <a:srgbClr val="394150"/>
                </a:solidFill>
                <a:latin typeface="Noto Sans CJK SC"/>
              </a:defRPr>
            </a:pPr>
            <a:r>
              <a:t>保存 rev 42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140963" y="2862072"/>
            <a:ext cx="1783081" cy="0"/>
          </a:xfrm>
          <a:prstGeom prst="line">
            <a:avLst/>
          </a:prstGeom>
          <a:ln w="21590">
            <a:solidFill>
              <a:srgbClr val="27D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4896612" y="2798064"/>
            <a:ext cx="137160" cy="128016"/>
          </a:xfrm>
          <a:prstGeom prst="triangle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32403" y="2679191"/>
            <a:ext cx="1673352" cy="2743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68979" y="2715768"/>
            <a:ext cx="1600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60" b="1">
                <a:solidFill>
                  <a:srgbClr val="394150"/>
                </a:solidFill>
                <a:latin typeface="Noto Sans CJK SC"/>
              </a:defRPr>
            </a:pPr>
            <a:r>
              <a:t>validate + prewarm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367028" y="3364992"/>
            <a:ext cx="3648456" cy="0"/>
          </a:xfrm>
          <a:prstGeom prst="line">
            <a:avLst/>
          </a:prstGeom>
          <a:ln w="2159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16200000">
            <a:off x="1248156" y="3300984"/>
            <a:ext cx="137160" cy="128016"/>
          </a:xfrm>
          <a:prstGeom prst="triangl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21892" y="3182112"/>
            <a:ext cx="3547872" cy="2743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58468" y="3218688"/>
            <a:ext cx="34747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60" b="1">
                <a:solidFill>
                  <a:srgbClr val="394150"/>
                </a:solidFill>
                <a:latin typeface="Noto Sans CJK SC"/>
              </a:defRPr>
            </a:pPr>
            <a:r>
              <a:t>返回可激活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266444" y="3867912"/>
            <a:ext cx="1783079" cy="0"/>
          </a:xfrm>
          <a:prstGeom prst="line">
            <a:avLst/>
          </a:prstGeom>
          <a:ln w="21590">
            <a:solidFill>
              <a:srgbClr val="4D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5400000">
            <a:off x="3022091" y="3803904"/>
            <a:ext cx="137160" cy="128016"/>
          </a:xfrm>
          <a:prstGeom prst="triangl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357884" y="3685032"/>
            <a:ext cx="1673351" cy="2743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4460" y="3721608"/>
            <a:ext cx="160019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60" b="1">
                <a:solidFill>
                  <a:srgbClr val="394150"/>
                </a:solidFill>
                <a:latin typeface="Noto Sans CJK SC"/>
              </a:defRPr>
            </a:pPr>
            <a:r>
              <a:t>activate rev 42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140963" y="4370832"/>
            <a:ext cx="1783081" cy="0"/>
          </a:xfrm>
          <a:prstGeom prst="line">
            <a:avLst/>
          </a:prstGeom>
          <a:ln w="21590">
            <a:solidFill>
              <a:srgbClr val="27D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5400000">
            <a:off x="4896612" y="4306824"/>
            <a:ext cx="137160" cy="128016"/>
          </a:xfrm>
          <a:prstGeom prst="triangle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32403" y="4187952"/>
            <a:ext cx="1673352" cy="2743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68979" y="4224528"/>
            <a:ext cx="1600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60" b="1">
                <a:solidFill>
                  <a:srgbClr val="394150"/>
                </a:solidFill>
                <a:latin typeface="Noto Sans CJK SC"/>
              </a:defRPr>
            </a:pPr>
            <a:r>
              <a:t>原子更新路由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015484" y="4873752"/>
            <a:ext cx="1783080" cy="0"/>
          </a:xfrm>
          <a:prstGeom prst="line">
            <a:avLst/>
          </a:prstGeom>
          <a:ln w="2159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6771132" y="4809744"/>
            <a:ext cx="137160" cy="128016"/>
          </a:xfrm>
          <a:prstGeom prst="triangl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106924" y="4690872"/>
            <a:ext cx="1673351" cy="2743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43500" y="4727448"/>
            <a:ext cx="160019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60" b="1">
                <a:solidFill>
                  <a:srgbClr val="394150"/>
                </a:solidFill>
                <a:latin typeface="Noto Sans CJK SC"/>
              </a:defRPr>
            </a:pPr>
            <a:r>
              <a:t>新 run 固定 1.3.0 / rev 42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890004" y="5376672"/>
            <a:ext cx="1783080" cy="0"/>
          </a:xfrm>
          <a:prstGeom prst="line">
            <a:avLst/>
          </a:prstGeom>
          <a:ln w="21590">
            <a:solidFill>
              <a:srgbClr val="F4B7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Isosceles Triangle 47"/>
          <p:cNvSpPr/>
          <p:nvPr/>
        </p:nvSpPr>
        <p:spPr>
          <a:xfrm rot="5400000">
            <a:off x="8645652" y="5312664"/>
            <a:ext cx="137160" cy="128016"/>
          </a:xfrm>
          <a:prstGeom prst="triangle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81444" y="5193792"/>
            <a:ext cx="1673352" cy="2743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18020" y="5230368"/>
            <a:ext cx="1600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60" b="1">
                <a:solidFill>
                  <a:srgbClr val="394150"/>
                </a:solidFill>
                <a:latin typeface="Noto Sans CJK SC"/>
              </a:defRPr>
            </a:pPr>
            <a:r>
              <a:t>提交 Artifact + lineage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764524" y="5879592"/>
            <a:ext cx="1783080" cy="0"/>
          </a:xfrm>
          <a:prstGeom prst="line">
            <a:avLst/>
          </a:prstGeom>
          <a:ln w="21590">
            <a:solidFill>
              <a:srgbClr val="20B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Isosceles Triangle 51"/>
          <p:cNvSpPr/>
          <p:nvPr/>
        </p:nvSpPr>
        <p:spPr>
          <a:xfrm rot="5400000">
            <a:off x="10520172" y="5815583"/>
            <a:ext cx="137160" cy="128016"/>
          </a:xfrm>
          <a:prstGeom prst="triangle">
            <a:avLst/>
          </a:prstGeom>
          <a:solidFill>
            <a:srgbClr val="20B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55964" y="5696712"/>
            <a:ext cx="1673351" cy="2743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92540" y="5733288"/>
            <a:ext cx="160019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60" b="1">
                <a:solidFill>
                  <a:srgbClr val="394150"/>
                </a:solidFill>
                <a:latin typeface="Noto Sans CJK SC"/>
              </a:defRPr>
            </a:pPr>
            <a:r>
              <a:t>门禁通过后下发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97280" y="6181344"/>
            <a:ext cx="9985248" cy="237744"/>
          </a:xfrm>
          <a:prstGeom prst="roundRect">
            <a:avLst/>
          </a:prstGeom>
          <a:solidFill>
            <a:srgbClr val="E8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98448" y="6208776"/>
            <a:ext cx="958291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30" b="1">
                <a:solidFill>
                  <a:srgbClr val="0F8F7B"/>
                </a:solidFill>
                <a:latin typeface="Noto Sans CJK SC"/>
              </a:defRPr>
            </a:pPr>
            <a:r>
              <a:t>状态真源：配置修订表 + run 记录 + Artifact 元数据；不要只依赖进程内对象。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6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280"/>
                </a:solidFill>
                <a:latin typeface="Noto Sans CJK SC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D3B2"/>
                </a:solidFill>
                <a:latin typeface="Noto Sans CJK SC"/>
              </a:defRPr>
            </a:pPr>
            <a:r>
              <a:t>17 / 落地路线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11827"/>
                </a:solidFill>
                <a:latin typeface="Noto Sans CJK SC"/>
              </a:defRPr>
            </a:pPr>
            <a:r>
              <a:t>先建立边界，再开放生态：四个阶段逐步迁移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B7280"/>
                </a:solidFill>
                <a:latin typeface="Noto Sans CJK SC"/>
              </a:defRPr>
            </a:pPr>
            <a:r>
              <a:t>每个阶段都能独立验收，不要求一次性把当前管线重写完。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755648"/>
            <a:ext cx="2532888" cy="313639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8096" y="1956816"/>
            <a:ext cx="502920" cy="292608"/>
          </a:xfrm>
          <a:prstGeom prst="round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965960"/>
            <a:ext cx="374904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1020"/>
                </a:solidFill>
                <a:latin typeface="Noto Sans CJK SC"/>
              </a:defRPr>
            </a:pPr>
            <a:r>
              <a:t>P0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414016"/>
            <a:ext cx="2139696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827"/>
                </a:solidFill>
                <a:latin typeface="Noto Sans CJK SC"/>
              </a:defRPr>
            </a:pPr>
            <a:r>
              <a:t>基线与合同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971800"/>
            <a:ext cx="2139696" cy="104241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394150"/>
                </a:solidFill>
                <a:latin typeface="Noto Sans CJK SC"/>
              </a:defRPr>
            </a:pPr>
            <a:r>
              <a:t>冻结现有结果样例</a:t>
            </a:r>
            <a:br/>
            <a:r>
              <a:t>定义 Request / Result / Services</a:t>
            </a:r>
            <a:br/>
            <a:r>
              <a:t>建立合同测试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4279392"/>
            <a:ext cx="2185416" cy="3840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4370832"/>
            <a:ext cx="202082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10" b="1">
                <a:solidFill>
                  <a:srgbClr val="4DA3FF"/>
                </a:solidFill>
                <a:latin typeface="Noto Sans CJK SC"/>
              </a:defRPr>
            </a:pPr>
            <a:r>
              <a:t>验收：现有 10 条轨迹可重放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54680" y="3300984"/>
            <a:ext cx="100584" cy="0"/>
          </a:xfrm>
          <a:prstGeom prst="line">
            <a:avLst/>
          </a:prstGeom>
          <a:ln w="2032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3227832" y="3236976"/>
            <a:ext cx="137160" cy="128016"/>
          </a:xfrm>
          <a:prstGeom prst="triangl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01568" y="1755648"/>
            <a:ext cx="2532888" cy="313639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66160" y="1956816"/>
            <a:ext cx="502920" cy="292608"/>
          </a:xfrm>
          <a:prstGeom prst="roundRect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1965960"/>
            <a:ext cx="374904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1020"/>
                </a:solidFill>
                <a:latin typeface="Noto Sans CJK SC"/>
              </a:defRPr>
            </a:pPr>
            <a:r>
              <a:t>P1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414016"/>
            <a:ext cx="2139696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827"/>
                </a:solidFill>
                <a:latin typeface="Noto Sans CJK SC"/>
              </a:defRPr>
            </a:pPr>
            <a:r>
              <a:t>默认内核封装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971800"/>
            <a:ext cx="2139696" cy="104241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394150"/>
                </a:solidFill>
                <a:latin typeface="Noto Sans CJK SC"/>
              </a:defRPr>
            </a:pPr>
            <a:r>
              <a:t>把现有三 Agent 链包进</a:t>
            </a:r>
            <a:br/>
            <a:r>
              <a:t>builtin-atomtask</a:t>
            </a:r>
            <a:br/>
            <a:r>
              <a:t>Watcher 只调 SDK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4279392"/>
            <a:ext cx="2185416" cy="3840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48456" y="4370832"/>
            <a:ext cx="202082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10" b="1">
                <a:solidFill>
                  <a:srgbClr val="27D3B2"/>
                </a:solidFill>
                <a:latin typeface="Noto Sans CJK SC"/>
              </a:defRPr>
            </a:pPr>
            <a:r>
              <a:t>验收：行为与成本不回退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2744" y="3300984"/>
            <a:ext cx="100584" cy="0"/>
          </a:xfrm>
          <a:prstGeom prst="line">
            <a:avLst/>
          </a:prstGeom>
          <a:ln w="2032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6025896" y="3236976"/>
            <a:ext cx="137160" cy="128016"/>
          </a:xfrm>
          <a:prstGeom prst="triangl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99632" y="1755648"/>
            <a:ext cx="2532888" cy="313639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64224" y="1956816"/>
            <a:ext cx="502920" cy="292608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2" y="1965960"/>
            <a:ext cx="374904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1020"/>
                </a:solidFill>
                <a:latin typeface="Noto Sans CJK SC"/>
              </a:defRPr>
            </a:pPr>
            <a:r>
              <a:t>P2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2414016"/>
            <a:ext cx="2139696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827"/>
                </a:solidFill>
                <a:latin typeface="Noto Sans CJK SC"/>
              </a:defRPr>
            </a:pPr>
            <a:r>
              <a:t>插件与热配置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2971800"/>
            <a:ext cx="2139696" cy="104241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394150"/>
                </a:solidFill>
                <a:latin typeface="Noto Sans CJK SC"/>
              </a:defRPr>
            </a:pPr>
            <a:r>
              <a:t>entry point 注册</a:t>
            </a:r>
            <a:br/>
            <a:r>
              <a:t>配置修订 / 预热 / 激活</a:t>
            </a:r>
            <a:br/>
            <a:r>
              <a:t>前端配置表单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64224" y="4279392"/>
            <a:ext cx="2185416" cy="3840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370832"/>
            <a:ext cx="202082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10" b="1">
                <a:solidFill>
                  <a:srgbClr val="7B61FF"/>
                </a:solidFill>
                <a:latin typeface="Noto Sans CJK SC"/>
              </a:defRPr>
            </a:pPr>
            <a:r>
              <a:t>验收：新任务切换、旧任务固定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50808" y="3300984"/>
            <a:ext cx="100584" cy="0"/>
          </a:xfrm>
          <a:prstGeom prst="line">
            <a:avLst/>
          </a:prstGeom>
          <a:ln w="2032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8823960" y="3236976"/>
            <a:ext cx="137160" cy="128016"/>
          </a:xfrm>
          <a:prstGeom prst="triangl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97696" y="1755648"/>
            <a:ext cx="2532888" cy="313639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62288" y="1956816"/>
            <a:ext cx="502920" cy="292608"/>
          </a:xfrm>
          <a:prstGeom prst="round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26296" y="1965960"/>
            <a:ext cx="374904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1020"/>
                </a:solidFill>
                <a:latin typeface="Noto Sans CJK SC"/>
              </a:defRPr>
            </a:pPr>
            <a:r>
              <a:t>P3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2414016"/>
            <a:ext cx="2139696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11827"/>
                </a:solidFill>
                <a:latin typeface="Noto Sans CJK SC"/>
              </a:defRPr>
            </a:pPr>
            <a:r>
              <a:t>统一评价与开放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8" y="2971800"/>
            <a:ext cx="2139696" cy="104241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394150"/>
                </a:solidFill>
                <a:latin typeface="Noto Sans CJK SC"/>
              </a:defRPr>
            </a:pPr>
            <a:r>
              <a:t>离线基准 / Shadow / Canary</a:t>
            </a:r>
            <a:br/>
            <a:r>
              <a:t>包签名与资源限制</a:t>
            </a:r>
            <a:br/>
            <a:r>
              <a:t>算法团队自助发布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62288" y="4279392"/>
            <a:ext cx="2185416" cy="384048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44584" y="4370832"/>
            <a:ext cx="202082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10" b="1">
                <a:solidFill>
                  <a:srgbClr val="F4B740"/>
                </a:solidFill>
                <a:latin typeface="Noto Sans CJK SC"/>
              </a:defRPr>
            </a:pPr>
            <a:r>
              <a:t>验收：自动晋级与回滚闭环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5248656"/>
            <a:ext cx="28346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11827"/>
                </a:solidFill>
                <a:latin typeface="Noto Sans CJK SC"/>
              </a:defRPr>
            </a:pPr>
            <a:r>
              <a:t>今天需要拍板的 4 个决定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669280"/>
            <a:ext cx="2487168" cy="521207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68096" y="5779008"/>
            <a:ext cx="246888" cy="246888"/>
          </a:xfrm>
          <a:prstGeom prst="ellipse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" y="5806440"/>
            <a:ext cx="24688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B1020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" y="5760720"/>
            <a:ext cx="1856231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7F9FC"/>
                </a:solidFill>
                <a:latin typeface="Noto Sans CJK SC"/>
              </a:defRPr>
            </a:pPr>
            <a:r>
              <a:t>公共接口以整条管线 run 为粒度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01568" y="5669280"/>
            <a:ext cx="2487168" cy="521207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529584" y="5779008"/>
            <a:ext cx="246888" cy="246888"/>
          </a:xfrm>
          <a:prstGeom prst="ellipse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29584" y="5806440"/>
            <a:ext cx="24688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B1020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86200" y="5760720"/>
            <a:ext cx="1856231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7F9FC"/>
                </a:solidFill>
                <a:latin typeface="Noto Sans CJK SC"/>
              </a:defRPr>
            </a:pPr>
            <a:r>
              <a:t>生产插件只接受 wheel + entry point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6" y="5669280"/>
            <a:ext cx="2487168" cy="521207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291072" y="5779008"/>
            <a:ext cx="246888" cy="246888"/>
          </a:xfrm>
          <a:prstGeom prst="ellipse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91072" y="5806440"/>
            <a:ext cx="24688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B1020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47688" y="5760720"/>
            <a:ext cx="1856231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7F9FC"/>
                </a:solidFill>
                <a:latin typeface="Noto Sans CJK SC"/>
              </a:defRPr>
            </a:pPr>
            <a:r>
              <a:t>热切换只影响新任务，所有 run 固定版本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24544" y="5669280"/>
            <a:ext cx="2487168" cy="521207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052560" y="5779008"/>
            <a:ext cx="246888" cy="246888"/>
          </a:xfrm>
          <a:prstGeom prst="ellipse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52560" y="5806440"/>
            <a:ext cx="24688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B1020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09176" y="5760720"/>
            <a:ext cx="1856231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7F9FC"/>
                </a:solidFill>
                <a:latin typeface="Noto Sans CJK SC"/>
              </a:defRPr>
            </a:pPr>
            <a:r>
              <a:t>评价与发布由平台统一控制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6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280"/>
                </a:solidFill>
                <a:latin typeface="Noto Sans CJK SC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21792"/>
            <a:ext cx="1124712" cy="292608"/>
          </a:xfrm>
          <a:prstGeom prst="roundRect">
            <a:avLst/>
          </a:prstGeom>
          <a:solidFill>
            <a:srgbClr val="20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630936"/>
            <a:ext cx="996695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D3B2"/>
                </a:solidFill>
                <a:latin typeface="Noto Sans CJK SC"/>
              </a:defRPr>
            </a:pPr>
            <a: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713232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7F9FC"/>
                </a:solidFill>
                <a:latin typeface="Noto Sans CJK SC"/>
              </a:defRPr>
            </a:pPr>
            <a:r>
              <a:t>算法团队只需记住三件事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585216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7D3B2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2313432"/>
            <a:ext cx="2331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7F9FC"/>
                </a:solidFill>
                <a:latin typeface="Noto Sans CJK SC"/>
              </a:defRPr>
            </a:pPr>
            <a:r>
              <a:t>继承统一基类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12463" y="2340863"/>
            <a:ext cx="540410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AAB4C8"/>
                </a:solidFill>
                <a:latin typeface="Noto Sans CJK SC"/>
              </a:defRPr>
            </a:pPr>
            <a:r>
              <a:t>实现 manifest / config_schema / validate_config / run。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83279"/>
            <a:ext cx="585216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B61FF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3364991"/>
            <a:ext cx="2331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7F9FC"/>
                </a:solidFill>
                <a:latin typeface="Noto Sans CJK SC"/>
              </a:defRPr>
            </a:pPr>
            <a:r>
              <a:t>调用自己的算法包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2463" y="3392423"/>
            <a:ext cx="540410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AAB4C8"/>
                </a:solidFill>
                <a:latin typeface="Noto Sans CJK SC"/>
              </a:defRPr>
            </a:pPr>
            <a:r>
              <a:t>XSkill 适配层要薄，不依赖平台内部模块。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34840"/>
            <a:ext cx="585216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4B740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4416552"/>
            <a:ext cx="2331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7F9FC"/>
                </a:solidFill>
                <a:latin typeface="Noto Sans CJK SC"/>
              </a:defRPr>
            </a:pPr>
            <a:r>
              <a:t>交付可评价产物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3" y="4443983"/>
            <a:ext cx="540410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20" b="0">
                <a:solidFill>
                  <a:srgbClr val="AAB4C8"/>
                </a:solidFill>
                <a:latin typeface="Noto Sans CJK SC"/>
              </a:defRPr>
            </a:pPr>
            <a:r>
              <a:t>返回 SkillArtifact、lineage 和诊断；平台负责是否发布。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97112" y="1252728"/>
            <a:ext cx="2560320" cy="4370832"/>
          </a:xfrm>
          <a:prstGeom prst="roundRect">
            <a:avLst/>
          </a:prstGeom>
          <a:solidFill>
            <a:srgbClr val="151B2F"/>
          </a:solidFill>
          <a:ln w="12700">
            <a:solidFill>
              <a:srgbClr val="20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71432" y="1572768"/>
            <a:ext cx="170078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7D3B2"/>
                </a:solidFill>
                <a:latin typeface="Noto Sans CJK SC"/>
              </a:defRPr>
            </a:pPr>
            <a:r>
              <a:t>接入检查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0576" y="2139696"/>
            <a:ext cx="201168" cy="201168"/>
          </a:xfrm>
          <a:prstGeom prst="roundRect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0576" y="2130552"/>
            <a:ext cx="20116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B1020"/>
                </a:solidFill>
                <a:latin typeface="Noto Sans CJK SC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7192" y="2130552"/>
            <a:ext cx="159105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30" b="0">
                <a:solidFill>
                  <a:srgbClr val="F7F9FC"/>
                </a:solidFill>
                <a:latin typeface="Noto Sans CJK SC"/>
              </a:defRPr>
            </a:pPr>
            <a:r>
              <a:t>包有明确版本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0576" y="2578608"/>
            <a:ext cx="201168" cy="201168"/>
          </a:xfrm>
          <a:prstGeom prst="roundRect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0576" y="2569464"/>
            <a:ext cx="20116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B1020"/>
                </a:solidFill>
                <a:latin typeface="Noto Sans CJK SC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7192" y="2569464"/>
            <a:ext cx="159105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30" b="0">
                <a:solidFill>
                  <a:srgbClr val="F7F9FC"/>
                </a:solidFill>
                <a:latin typeface="Noto Sans CJK SC"/>
              </a:defRPr>
            </a:pPr>
            <a:r>
              <a:t>配置可校验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0576" y="3017520"/>
            <a:ext cx="201168" cy="201168"/>
          </a:xfrm>
          <a:prstGeom prst="roundRect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3008376"/>
            <a:ext cx="20116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B1020"/>
                </a:solidFill>
                <a:latin typeface="Noto Sans CJK SC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7192" y="3008376"/>
            <a:ext cx="159105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30" b="0">
                <a:solidFill>
                  <a:srgbClr val="F7F9FC"/>
                </a:solidFill>
                <a:latin typeface="Noto Sans CJK SC"/>
              </a:defRPr>
            </a:pPr>
            <a:r>
              <a:t>不直接访问平台 DB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0576" y="3456432"/>
            <a:ext cx="201168" cy="201168"/>
          </a:xfrm>
          <a:prstGeom prst="roundRect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0576" y="3447288"/>
            <a:ext cx="20116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B1020"/>
                </a:solidFill>
                <a:latin typeface="Noto Sans CJK SC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7192" y="3447288"/>
            <a:ext cx="159105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30" b="0">
                <a:solidFill>
                  <a:srgbClr val="F7F9FC"/>
                </a:solidFill>
                <a:latin typeface="Noto Sans CJK SC"/>
              </a:defRPr>
            </a:pPr>
            <a:r>
              <a:t>结果有 lineage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0576" y="3895344"/>
            <a:ext cx="201168" cy="201168"/>
          </a:xfrm>
          <a:prstGeom prst="roundRect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0576" y="3886200"/>
            <a:ext cx="20116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B1020"/>
                </a:solidFill>
                <a:latin typeface="Noto Sans CJK SC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37192" y="3886200"/>
            <a:ext cx="159105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30" b="0">
                <a:solidFill>
                  <a:srgbClr val="F7F9FC"/>
                </a:solidFill>
                <a:latin typeface="Noto Sans CJK SC"/>
              </a:defRPr>
            </a:pPr>
            <a:r>
              <a:t>合同测试可重复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0576" y="4334256"/>
            <a:ext cx="201168" cy="201168"/>
          </a:xfrm>
          <a:prstGeom prst="roundRect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0576" y="4325112"/>
            <a:ext cx="20116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B1020"/>
                </a:solidFill>
                <a:latin typeface="Noto Sans CJK SC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37192" y="4325112"/>
            <a:ext cx="159105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30" b="0">
                <a:solidFill>
                  <a:srgbClr val="F7F9FC"/>
                </a:solidFill>
                <a:latin typeface="Noto Sans CJK SC"/>
              </a:defRPr>
            </a:pPr>
            <a:r>
              <a:t>支持失败与超时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80576" y="4773168"/>
            <a:ext cx="201168" cy="201168"/>
          </a:xfrm>
          <a:prstGeom prst="roundRect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0576" y="4764024"/>
            <a:ext cx="20116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B1020"/>
                </a:solidFill>
                <a:latin typeface="Noto Sans CJK SC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4764024"/>
            <a:ext cx="159105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30" b="0">
                <a:solidFill>
                  <a:srgbClr val="F7F9FC"/>
                </a:solidFill>
                <a:latin typeface="Noto Sans CJK SC"/>
              </a:defRPr>
            </a:pPr>
            <a:r>
              <a:t>通过影子后再灰度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852160"/>
            <a:ext cx="7269480" cy="448056"/>
          </a:xfrm>
          <a:prstGeom prst="roundRect">
            <a:avLst/>
          </a:prstGeom>
          <a:solidFill>
            <a:srgbClr val="27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5952744"/>
            <a:ext cx="67848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0B1020"/>
                </a:solidFill>
                <a:latin typeface="Noto Sans CJK SC"/>
              </a:defRPr>
            </a:pPr>
            <a:r>
              <a:t>下一步：用 builtin-atomtask 完成 P0 / P1 原型，拿真实轨迹做等价性回归。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9448" y="5961888"/>
            <a:ext cx="198424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7F9FC"/>
                </a:solidFill>
                <a:latin typeface="Noto Sans CJK SC"/>
              </a:defRPr>
            </a:pPr>
            <a:r>
              <a:t>Q &amp; A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20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30352" y="6574536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770" b="0">
                <a:solidFill>
                  <a:srgbClr val="AAB4C8"/>
                </a:solidFill>
                <a:latin typeface="Noto Sans CJK SC"/>
              </a:defRPr>
            </a:pPr>
            <a:r>
              <a:t>配套 Demo：docs/ppt/xskill_kernel_demo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18520" y="6556248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AAB4C8"/>
                </a:solidFill>
                <a:latin typeface="Noto Sans CJK SC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XSkill 可插拔技能生产管线重构设计</dc:title>
  <dc:subject>算法团队接入、热配置与评测培训</dc:subject>
  <dc:creator>370025263</dc:creator>
  <cp:keywords>XSkill, skill generation, plugin, pipeline, evaluation</cp:keywords>
  <dc:description>基于 traj2skill 当前代码与 OpenMines BaseDispatcher 模式设计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